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Roboto Light"/>
      <p:regular r:id="rId201314"/>
    </p:embeddedFont>
    <p:embeddedFont>
      <p:font typeface="Roboto"/>
      <p:regular r:id="rId201315"/>
    </p:embeddedFont>
    <p:embeddedFont>
      <p:font typeface="Roboto Thin"/>
      <p:regular r:id="rId201316"/>
    </p:embeddedFont>
    <p:embeddedFont>
      <p:font typeface="Roboto ExtraLight"/>
      <p:regular r:id="rId201317"/>
    </p:embeddedFont>
    <p:embeddedFont>
      <p:font typeface="Roboto Medium"/>
      <p:regular r:id="rId201318"/>
    </p:embeddedFont>
    <p:embeddedFont>
      <p:font typeface="Roboto SemiBold"/>
      <p:regular r:id="rId201319"/>
    </p:embeddedFont>
    <p:embeddedFont>
      <p:font typeface="Roboto Bold"/>
      <p:regular r:id="rId201320"/>
    </p:embeddedFont>
    <p:embeddedFont>
      <p:font typeface="Roboto ExtraBold"/>
      <p:regular r:id="rId201321"/>
    </p:embeddedFont>
    <p:embeddedFont>
      <p:font typeface="Roboto Black"/>
      <p:regular r:id="rId201322"/>
    </p:embeddedFont>
    <p:embeddedFont>
      <p:font typeface="Roboto Slab Thin"/>
      <p:regular r:id="rId201323"/>
    </p:embeddedFont>
    <p:embeddedFont>
      <p:font typeface="Roboto Slab ExtraLight"/>
      <p:regular r:id="rId201324"/>
    </p:embeddedFont>
    <p:embeddedFont>
      <p:font typeface="Roboto Slab Light"/>
      <p:regular r:id="rId201325"/>
    </p:embeddedFont>
    <p:embeddedFont>
      <p:font typeface="Roboto Slab"/>
      <p:regular r:id="rId201326"/>
    </p:embeddedFont>
    <p:embeddedFont>
      <p:font typeface="Roboto Slab Medium"/>
      <p:regular r:id="rId201327"/>
    </p:embeddedFont>
    <p:embeddedFont>
      <p:font typeface="Roboto Slab SemiBold"/>
      <p:regular r:id="rId201328"/>
    </p:embeddedFont>
    <p:embeddedFont>
      <p:font typeface="Roboto Slab Bold"/>
      <p:regular r:id="rId201329"/>
    </p:embeddedFont>
    <p:embeddedFont>
      <p:font typeface="Roboto Slab ExtraBold"/>
      <p:regular r:id="rId201330"/>
    </p:embeddedFont>
    <p:embeddedFont>
      <p:font typeface="Roboto Slab Black"/>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6194152"/>
          </a:xfrm>
          <a:prstGeom prst="rect">
            <a:avLst/>
          </a:prstGeom>
        </p:spPr>
      </p:pic>
      <p:sp>
        <p:nvSpPr>
          <p:cNvPr id="5" name="Shape 2"/>
          <p:cNvSpPr/>
          <p:nvPr/>
        </p:nvSpPr>
        <p:spPr>
          <a:xfrm>
            <a:off x="0" y="0"/>
            <a:ext cx="9144000" cy="6194152"/>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851550"/>
          </a:xfrm>
          <a:prstGeom prst="rect">
            <a:avLst/>
          </a:prstGeom>
        </p:spPr>
      </p:pic>
      <p:sp>
        <p:nvSpPr>
          <p:cNvPr id="5" name="Shape 2"/>
          <p:cNvSpPr/>
          <p:nvPr/>
        </p:nvSpPr>
        <p:spPr>
          <a:xfrm>
            <a:off x="0" y="0"/>
            <a:ext cx="9144000" cy="585155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master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master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master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master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pic>
        <p:nvPicPr>
          <p:cNvPr id="4" name="Image 0" descr="preencoded.png">    </p:cNvPr>
          <p:cNvPicPr>
            <a:picLocks noChangeAspect="1"/>
          </p:cNvPicPr>
          <p:nvPr/>
        </p:nvPicPr>
        <p:blipFill>
          <a:blip r:embed="rId1"/>
          <a:stretch>
            <a:fillRect/>
          </a:stretch>
        </p:blipFill>
        <p:spPr>
          <a:xfrm>
            <a:off x="0" y="0"/>
            <a:ext cx="9144000" cy="5145658"/>
          </a:xfrm>
          <a:prstGeom prst="rect">
            <a:avLst/>
          </a:prstGeom>
        </p:spPr>
      </p:pic>
      <p:sp>
        <p:nvSpPr>
          <p:cNvPr id="5" name="Shape 2"/>
          <p:cNvSpPr/>
          <p:nvPr/>
        </p:nvSpPr>
        <p:spPr>
          <a:xfrm>
            <a:off x="0" y="0"/>
            <a:ext cx="9144000" cy="5145658"/>
          </a:xfrm>
          <a:prstGeom prst="rect">
            <a:avLst/>
          </a:prstGeom>
          <a:solidFill>
            <a:srgbClr val="FBFCFE">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image" Target="../media/image-4-12.png"/><Relationship Id="rId13" Type="http://schemas.openxmlformats.org/officeDocument/2006/relationships/image" Target="../media/image-4-13.svg"/><Relationship Id="rId14" Type="http://schemas.openxmlformats.org/officeDocument/2006/relationships/slideLayout" Target="../slideLayouts/slideLayout5.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3.png"/><Relationship Id="rId6" Type="http://schemas.openxmlformats.org/officeDocument/2006/relationships/image" Target="../media/image-5-4.svg"/><Relationship Id="rId7" Type="http://schemas.openxmlformats.org/officeDocument/2006/relationships/image" Target="../media/image-5-3.png"/><Relationship Id="rId8" Type="http://schemas.openxmlformats.org/officeDocument/2006/relationships/image" Target="../media/image-5-4.svg"/><Relationship Id="rId9" Type="http://schemas.openxmlformats.org/officeDocument/2006/relationships/image" Target="../media/image-5-3.png"/><Relationship Id="rId10" Type="http://schemas.openxmlformats.org/officeDocument/2006/relationships/image" Target="../media/image-5-4.svg"/><Relationship Id="rId11" Type="http://schemas.openxmlformats.org/officeDocument/2006/relationships/slideLayout" Target="../slideLayouts/slideLayout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slideLayout" Target="../slideLayouts/slideLayout7.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10.png"/><Relationship Id="rId11" Type="http://schemas.openxmlformats.org/officeDocument/2006/relationships/image" Target="../media/image-7-11.svg"/><Relationship Id="rId12" Type="http://schemas.openxmlformats.org/officeDocument/2006/relationships/slideLayout" Target="../slideLayouts/slideLayout8.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pic>
        <p:nvPicPr>
          <p:cNvPr id="3" name="Image 1" descr="preencoded.png">    </p:cNvPr>
          <p:cNvPicPr>
            <a:picLocks noChangeAspect="1"/>
          </p:cNvPicPr>
          <p:nvPr/>
        </p:nvPicPr>
        <p:blipFill>
          <a:blip r:embed="rId2"/>
          <a:stretch>
            <a:fillRect/>
          </a:stretch>
        </p:blipFill>
        <p:spPr>
          <a:xfrm>
            <a:off x="7922865" y="1191816"/>
            <a:ext cx="725016" cy="725016"/>
          </a:xfrm>
          <a:prstGeom prst="rect">
            <a:avLst/>
          </a:prstGeom>
        </p:spPr>
      </p:pic>
      <p:sp>
        <p:nvSpPr>
          <p:cNvPr id="4" name="Shape 0"/>
          <p:cNvSpPr/>
          <p:nvPr/>
        </p:nvSpPr>
        <p:spPr>
          <a:xfrm>
            <a:off x="3925119" y="2076301"/>
            <a:ext cx="1825898" cy="266402"/>
          </a:xfrm>
          <a:prstGeom prst="roundRect">
            <a:avLst>
              <a:gd name="adj" fmla="val 6386"/>
            </a:avLst>
          </a:prstGeom>
          <a:solidFill>
            <a:srgbClr val="D7DFF4"/>
          </a:solidFill>
          <a:ln/>
        </p:spPr>
      </p:sp>
      <p:sp>
        <p:nvSpPr>
          <p:cNvPr id="5" name="Text 1"/>
          <p:cNvSpPr/>
          <p:nvPr/>
        </p:nvSpPr>
        <p:spPr>
          <a:xfrm>
            <a:off x="4010174" y="2118792"/>
            <a:ext cx="2112987" cy="181421"/>
          </a:xfrm>
          <a:prstGeom prst="rect">
            <a:avLst/>
          </a:prstGeom>
          <a:noFill/>
          <a:ln/>
        </p:spPr>
        <p:txBody>
          <a:bodyPr wrap="none" lIns="0" tIns="0" rIns="0" bIns="0" rtlCol="0" anchor="t"/>
          <a:lstStyle/>
          <a:p>
            <a:pPr algn="l" indent="0" marL="0">
              <a:lnSpc>
                <a:spcPct val="133000"/>
              </a:lnSpc>
              <a:buNone/>
            </a:pPr>
            <a:r>
              <a:rPr lang="en-US" sz="850" dirty="0">
                <a:solidFill>
                  <a:srgbClr val="15213F"/>
                </a:solidFill>
                <a:latin typeface="Roboto" pitchFamily="34" charset="0"/>
                <a:ea typeface="Roboto" pitchFamily="34" charset="-122"/>
                <a:cs typeface="Roboto" pitchFamily="34" charset="-120"/>
              </a:rPr>
              <a:t>AGRAWAL BROTHERS SERVICES</a:t>
            </a:r>
            <a:endParaRPr lang="en-US" sz="850" dirty="0"/>
          </a:p>
        </p:txBody>
      </p:sp>
      <p:sp>
        <p:nvSpPr>
          <p:cNvPr id="6" name="Text 2"/>
          <p:cNvSpPr/>
          <p:nvPr/>
        </p:nvSpPr>
        <p:spPr>
          <a:xfrm>
            <a:off x="3925119" y="2399407"/>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3257B8"/>
                </a:solidFill>
                <a:latin typeface="Roboto Slab" pitchFamily="34" charset="0"/>
                <a:ea typeface="Roboto Slab" pitchFamily="34" charset="-122"/>
                <a:cs typeface="Roboto Slab" pitchFamily="34" charset="-120"/>
              </a:rPr>
              <a:t>Digital Solutions for a Traditional Business</a:t>
            </a:r>
            <a:endParaRPr lang="en-US" sz="2750" dirty="0"/>
          </a:p>
        </p:txBody>
      </p:sp>
      <p:sp>
        <p:nvSpPr>
          <p:cNvPr id="7" name="Text 3"/>
          <p:cNvSpPr/>
          <p:nvPr/>
        </p:nvSpPr>
        <p:spPr>
          <a:xfrm>
            <a:off x="3925119" y="3497982"/>
            <a:ext cx="4722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213F"/>
                </a:solidFill>
                <a:latin typeface="Roboto" pitchFamily="34" charset="0"/>
                <a:ea typeface="Roboto" pitchFamily="34" charset="-122"/>
                <a:cs typeface="Roboto" pitchFamily="34" charset="-120"/>
              </a:rPr>
              <a:t>Empowering Agrawal Brothers with modern technology — web, mobile, management, and social media.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083079" y="403101"/>
            <a:ext cx="564803" cy="564803"/>
          </a:xfrm>
          <a:prstGeom prst="rect">
            <a:avLst/>
          </a:prstGeom>
        </p:spPr>
      </p:pic>
      <p:sp>
        <p:nvSpPr>
          <p:cNvPr id="3" name="Text 0"/>
          <p:cNvSpPr/>
          <p:nvPr/>
        </p:nvSpPr>
        <p:spPr>
          <a:xfrm>
            <a:off x="1816075" y="1180505"/>
            <a:ext cx="5511850" cy="442987"/>
          </a:xfrm>
          <a:prstGeom prst="rect">
            <a:avLst/>
          </a:prstGeom>
          <a:noFill/>
          <a:ln/>
        </p:spPr>
        <p:txBody>
          <a:bodyPr wrap="none" lIns="0" tIns="0" rIns="0" bIns="0" rtlCol="0" anchor="t"/>
          <a:lstStyle/>
          <a:p>
            <a:pPr algn="ctr" indent="0" marL="0">
              <a:lnSpc>
                <a:spcPct val="104000"/>
              </a:lnSpc>
              <a:buNone/>
            </a:pPr>
            <a:r>
              <a:rPr lang="en-US" sz="2750" dirty="0">
                <a:solidFill>
                  <a:srgbClr val="3257B8"/>
                </a:solidFill>
                <a:latin typeface="Roboto Slab" pitchFamily="34" charset="0"/>
                <a:ea typeface="Roboto Slab" pitchFamily="34" charset="-122"/>
                <a:cs typeface="Roboto Slab" pitchFamily="34" charset="-120"/>
              </a:rPr>
              <a:t>A Three-Pillar Digital Strategy</a:t>
            </a:r>
            <a:endParaRPr lang="en-US" sz="2750" dirty="0"/>
          </a:p>
        </p:txBody>
      </p:sp>
      <p:sp>
        <p:nvSpPr>
          <p:cNvPr id="4" name="Text 1"/>
          <p:cNvSpPr/>
          <p:nvPr/>
        </p:nvSpPr>
        <p:spPr>
          <a:xfrm>
            <a:off x="496119" y="1836093"/>
            <a:ext cx="8151763" cy="453628"/>
          </a:xfrm>
          <a:prstGeom prst="rect">
            <a:avLst/>
          </a:prstGeom>
          <a:noFill/>
          <a:ln/>
        </p:spPr>
        <p:txBody>
          <a:bodyPr wrap="square" lIns="0" tIns="0" rIns="0" bIns="0" rtlCol="0" anchor="t">
            <a:normAutofit/>
          </a:bodyPr>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Our comprehensive approach focuses on enhancing customer experience, streamlining internal operations, and boosting brand presence.</a:t>
            </a:r>
            <a:endParaRPr lang="en-US" sz="1100" dirty="0"/>
          </a:p>
        </p:txBody>
      </p:sp>
      <p:sp>
        <p:nvSpPr>
          <p:cNvPr id="5" name="Shape 2"/>
          <p:cNvSpPr/>
          <p:nvPr/>
        </p:nvSpPr>
        <p:spPr>
          <a:xfrm>
            <a:off x="496119" y="2449190"/>
            <a:ext cx="2622724" cy="2291135"/>
          </a:xfrm>
          <a:prstGeom prst="roundRect">
            <a:avLst>
              <a:gd name="adj" fmla="val 928"/>
            </a:avLst>
          </a:prstGeom>
          <a:solidFill>
            <a:srgbClr val="E9ECF2"/>
          </a:solidFill>
          <a:ln/>
        </p:spPr>
      </p:sp>
      <p:sp>
        <p:nvSpPr>
          <p:cNvPr id="6" name="Shape 3"/>
          <p:cNvSpPr/>
          <p:nvPr/>
        </p:nvSpPr>
        <p:spPr>
          <a:xfrm>
            <a:off x="637877" y="2590949"/>
            <a:ext cx="425276" cy="425276"/>
          </a:xfrm>
          <a:prstGeom prst="ellipse">
            <a:avLst/>
          </a:prstGeom>
          <a:solidFill>
            <a:srgbClr val="476FD6"/>
          </a:solidFill>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4856" y="2707853"/>
            <a:ext cx="191319" cy="191319"/>
          </a:xfrm>
          <a:prstGeom prst="rect">
            <a:avLst/>
          </a:prstGeom>
        </p:spPr>
      </p:pic>
      <p:sp>
        <p:nvSpPr>
          <p:cNvPr id="8" name="Text 4"/>
          <p:cNvSpPr/>
          <p:nvPr/>
        </p:nvSpPr>
        <p:spPr>
          <a:xfrm>
            <a:off x="637877" y="3157984"/>
            <a:ext cx="1899791"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Customer Engagement</a:t>
            </a:r>
            <a:endParaRPr lang="en-US" sz="1350" dirty="0"/>
          </a:p>
        </p:txBody>
      </p:sp>
      <p:sp>
        <p:nvSpPr>
          <p:cNvPr id="9" name="Text 5"/>
          <p:cNvSpPr/>
          <p:nvPr/>
        </p:nvSpPr>
        <p:spPr>
          <a:xfrm>
            <a:off x="637877" y="3464496"/>
            <a:ext cx="2339206"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213F"/>
                </a:solidFill>
                <a:latin typeface="Roboto" pitchFamily="34" charset="0"/>
                <a:ea typeface="Roboto" pitchFamily="34" charset="-122"/>
                <a:cs typeface="Roboto" pitchFamily="34" charset="-120"/>
              </a:rPr>
              <a:t>Launching a dedicated mobile app to connect with customers, offer personalised services, and build loyalty.</a:t>
            </a:r>
            <a:endParaRPr lang="en-US" sz="1100" dirty="0"/>
          </a:p>
        </p:txBody>
      </p:sp>
      <p:sp>
        <p:nvSpPr>
          <p:cNvPr id="10" name="Shape 6"/>
          <p:cNvSpPr/>
          <p:nvPr/>
        </p:nvSpPr>
        <p:spPr>
          <a:xfrm>
            <a:off x="3260601" y="2449190"/>
            <a:ext cx="2622724" cy="2291135"/>
          </a:xfrm>
          <a:prstGeom prst="roundRect">
            <a:avLst>
              <a:gd name="adj" fmla="val 928"/>
            </a:avLst>
          </a:prstGeom>
          <a:solidFill>
            <a:srgbClr val="E9ECF2"/>
          </a:solidFill>
          <a:ln/>
        </p:spPr>
      </p:sp>
      <p:sp>
        <p:nvSpPr>
          <p:cNvPr id="11" name="Shape 7"/>
          <p:cNvSpPr/>
          <p:nvPr/>
        </p:nvSpPr>
        <p:spPr>
          <a:xfrm>
            <a:off x="3402360" y="2590949"/>
            <a:ext cx="425276" cy="425276"/>
          </a:xfrm>
          <a:prstGeom prst="ellipse">
            <a:avLst/>
          </a:prstGeom>
          <a:solidFill>
            <a:srgbClr val="476FD6"/>
          </a:solidFill>
          <a:ln/>
        </p:spPr>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19339" y="2707853"/>
            <a:ext cx="191319" cy="191319"/>
          </a:xfrm>
          <a:prstGeom prst="rect">
            <a:avLst/>
          </a:prstGeom>
        </p:spPr>
      </p:pic>
      <p:sp>
        <p:nvSpPr>
          <p:cNvPr id="13" name="Text 8"/>
          <p:cNvSpPr/>
          <p:nvPr/>
        </p:nvSpPr>
        <p:spPr>
          <a:xfrm>
            <a:off x="3402360" y="3157984"/>
            <a:ext cx="1862435"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Operational Efficiency</a:t>
            </a:r>
            <a:endParaRPr lang="en-US" sz="1350" dirty="0"/>
          </a:p>
        </p:txBody>
      </p:sp>
      <p:sp>
        <p:nvSpPr>
          <p:cNvPr id="14" name="Text 9"/>
          <p:cNvSpPr/>
          <p:nvPr/>
        </p:nvSpPr>
        <p:spPr>
          <a:xfrm>
            <a:off x="3402360" y="3464496"/>
            <a:ext cx="2339206"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213F"/>
                </a:solidFill>
                <a:latin typeface="Roboto" pitchFamily="34" charset="0"/>
                <a:ea typeface="Roboto" pitchFamily="34" charset="-122"/>
                <a:cs typeface="Roboto" pitchFamily="34" charset="-120"/>
              </a:rPr>
              <a:t>Implementing a robust business management suite to automate processes, improve data management, and optimise workflows.</a:t>
            </a:r>
            <a:endParaRPr lang="en-US" sz="1100" dirty="0"/>
          </a:p>
        </p:txBody>
      </p:sp>
      <p:sp>
        <p:nvSpPr>
          <p:cNvPr id="15" name="Shape 10"/>
          <p:cNvSpPr/>
          <p:nvPr/>
        </p:nvSpPr>
        <p:spPr>
          <a:xfrm>
            <a:off x="6025083" y="2449190"/>
            <a:ext cx="2622724" cy="2291135"/>
          </a:xfrm>
          <a:prstGeom prst="roundRect">
            <a:avLst>
              <a:gd name="adj" fmla="val 928"/>
            </a:avLst>
          </a:prstGeom>
          <a:solidFill>
            <a:srgbClr val="E9ECF2"/>
          </a:solidFill>
          <a:ln/>
        </p:spPr>
      </p:sp>
      <p:sp>
        <p:nvSpPr>
          <p:cNvPr id="16" name="Shape 11"/>
          <p:cNvSpPr/>
          <p:nvPr/>
        </p:nvSpPr>
        <p:spPr>
          <a:xfrm>
            <a:off x="6166842" y="2590949"/>
            <a:ext cx="425276" cy="425276"/>
          </a:xfrm>
          <a:prstGeom prst="ellipse">
            <a:avLst/>
          </a:prstGeom>
          <a:solidFill>
            <a:srgbClr val="476FD6"/>
          </a:solidFill>
          <a:ln/>
        </p:spPr>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3821" y="2707853"/>
            <a:ext cx="191319" cy="191319"/>
          </a:xfrm>
          <a:prstGeom prst="rect">
            <a:avLst/>
          </a:prstGeom>
        </p:spPr>
      </p:pic>
      <p:sp>
        <p:nvSpPr>
          <p:cNvPr id="18" name="Text 12"/>
          <p:cNvSpPr/>
          <p:nvPr/>
        </p:nvSpPr>
        <p:spPr>
          <a:xfrm>
            <a:off x="6166842" y="3157984"/>
            <a:ext cx="1772022" cy="221456"/>
          </a:xfrm>
          <a:prstGeom prst="rect">
            <a:avLst/>
          </a:prstGeom>
          <a:noFill/>
          <a:ln/>
        </p:spPr>
        <p:txBody>
          <a:bodyPr wrap="none" lIns="0" tIns="0" rIns="0" bIns="0" rtlCol="0" anchor="t"/>
          <a:lstStyle/>
          <a:p>
            <a:pPr algn="l" indent="0" marL="0">
              <a:lnSpc>
                <a:spcPct val="104000"/>
              </a:lnSpc>
              <a:buNone/>
            </a:pPr>
            <a:r>
              <a:rPr lang="en-US" sz="1350" dirty="0">
                <a:solidFill>
                  <a:srgbClr val="15213F"/>
                </a:solidFill>
                <a:latin typeface="Roboto Slab" pitchFamily="34" charset="0"/>
                <a:ea typeface="Roboto Slab" pitchFamily="34" charset="-122"/>
                <a:cs typeface="Roboto Slab" pitchFamily="34" charset="-120"/>
              </a:rPr>
              <a:t>Brand Visibility</a:t>
            </a:r>
            <a:endParaRPr lang="en-US" sz="1350" dirty="0"/>
          </a:p>
        </p:txBody>
      </p:sp>
      <p:sp>
        <p:nvSpPr>
          <p:cNvPr id="19" name="Text 13"/>
          <p:cNvSpPr/>
          <p:nvPr/>
        </p:nvSpPr>
        <p:spPr>
          <a:xfrm>
            <a:off x="6166842" y="3464496"/>
            <a:ext cx="2339206"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15213F"/>
                </a:solidFill>
                <a:latin typeface="Roboto" pitchFamily="34" charset="0"/>
                <a:ea typeface="Roboto" pitchFamily="34" charset="-122"/>
                <a:cs typeface="Roboto" pitchFamily="34" charset="-120"/>
              </a:rPr>
              <a:t>Developing a dynamic social media strategy to expand our reach, engage with the community, and amplify our brand story.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89855"/>
            <a:ext cx="359271" cy="110430"/>
          </a:xfrm>
          <a:prstGeom prst="roundRect">
            <a:avLst>
              <a:gd name="adj" fmla="val 7703"/>
            </a:avLst>
          </a:prstGeom>
          <a:noFill/>
          <a:ln/>
          <a:effectLst>
            <a:outerShdw sx="100000" sy="100000" kx="0" ky="0" algn="bl" rotWithShape="0" blurRad="101600" dist="50800" dir="16200000">
              <a:srgbClr val="3257b8">
                <a:alpha val="100000"/>
              </a:srgbClr>
            </a:outerShdw>
          </a:effectLst>
        </p:spPr>
      </p:sp>
      <p:sp>
        <p:nvSpPr>
          <p:cNvPr id="3" name="Text 1"/>
          <p:cNvSpPr/>
          <p:nvPr/>
        </p:nvSpPr>
        <p:spPr>
          <a:xfrm>
            <a:off x="538609" y="411063"/>
            <a:ext cx="731490" cy="68014"/>
          </a:xfrm>
          <a:prstGeom prst="rect">
            <a:avLst/>
          </a:prstGeom>
          <a:noFill/>
          <a:ln/>
        </p:spPr>
        <p:txBody>
          <a:bodyPr wrap="none" lIns="0" tIns="0" rIns="0" bIns="0" rtlCol="0" anchor="t"/>
          <a:lstStyle/>
          <a:p>
            <a:pPr algn="l" indent="0" marL="0">
              <a:lnSpc>
                <a:spcPct val="100000"/>
              </a:lnSpc>
              <a:buNone/>
            </a:pPr>
            <a:r>
              <a:rPr lang="en-US" sz="400" dirty="0">
                <a:solidFill>
                  <a:srgbClr val="3257B8"/>
                </a:solidFill>
                <a:latin typeface="Roboto" pitchFamily="34" charset="0"/>
                <a:ea typeface="Roboto" pitchFamily="34" charset="-122"/>
                <a:cs typeface="Roboto" pitchFamily="34" charset="-120"/>
              </a:rPr>
              <a:t>STRATEGY</a:t>
            </a:r>
            <a:endParaRPr lang="en-US" sz="400" dirty="0"/>
          </a:p>
        </p:txBody>
      </p:sp>
      <p:sp>
        <p:nvSpPr>
          <p:cNvPr id="4" name="Text 2"/>
          <p:cNvSpPr/>
          <p:nvPr/>
        </p:nvSpPr>
        <p:spPr>
          <a:xfrm>
            <a:off x="496119" y="575518"/>
            <a:ext cx="2983483" cy="221456"/>
          </a:xfrm>
          <a:prstGeom prst="rect">
            <a:avLst/>
          </a:prstGeom>
          <a:noFill/>
          <a:ln/>
        </p:spPr>
        <p:txBody>
          <a:bodyPr wrap="none" lIns="0" tIns="0" rIns="0" bIns="0" rtlCol="0" anchor="t"/>
          <a:lstStyle/>
          <a:p>
            <a:pPr algn="l" indent="0" marL="0">
              <a:lnSpc>
                <a:spcPct val="104000"/>
              </a:lnSpc>
              <a:buNone/>
            </a:pPr>
            <a:r>
              <a:rPr lang="en-US" sz="1350" dirty="0">
                <a:solidFill>
                  <a:srgbClr val="3257B8"/>
                </a:solidFill>
                <a:latin typeface="Roboto Slab" pitchFamily="34" charset="0"/>
                <a:ea typeface="Roboto Slab" pitchFamily="34" charset="-122"/>
                <a:cs typeface="Roboto Slab" pitchFamily="34" charset="-120"/>
              </a:rPr>
              <a:t>A Three-Pillar Digital Strategy</a:t>
            </a:r>
            <a:endParaRPr lang="en-US" sz="1350" dirty="0"/>
          </a:p>
        </p:txBody>
      </p:sp>
      <p:pic>
        <p:nvPicPr>
          <p:cNvPr id="5" name="Image 0" descr="preencoded.png">    </p:cNvPr>
          <p:cNvPicPr>
            <a:picLocks noChangeAspect="1"/>
          </p:cNvPicPr>
          <p:nvPr/>
        </p:nvPicPr>
        <p:blipFill>
          <a:blip r:embed="rId1"/>
          <a:stretch>
            <a:fillRect/>
          </a:stretch>
        </p:blipFill>
        <p:spPr>
          <a:xfrm>
            <a:off x="7576840" y="579909"/>
            <a:ext cx="1075730" cy="1075730"/>
          </a:xfrm>
          <a:prstGeom prst="rect">
            <a:avLst/>
          </a:prstGeom>
        </p:spPr>
      </p:pic>
      <p:pic>
        <p:nvPicPr>
          <p:cNvPr id="6" name="Image 1" descr="preencoded.png">    </p:cNvPr>
          <p:cNvPicPr>
            <a:picLocks noChangeAspect="1"/>
          </p:cNvPicPr>
          <p:nvPr/>
        </p:nvPicPr>
        <p:blipFill>
          <a:blip r:embed="rId2"/>
          <a:stretch>
            <a:fillRect/>
          </a:stretch>
        </p:blipFill>
        <p:spPr>
          <a:xfrm>
            <a:off x="496119" y="1775073"/>
            <a:ext cx="3989412" cy="3989412"/>
          </a:xfrm>
          <a:prstGeom prst="rect">
            <a:avLst/>
          </a:prstGeom>
        </p:spPr>
      </p:pic>
      <p:sp>
        <p:nvSpPr>
          <p:cNvPr id="7" name="Text 3"/>
          <p:cNvSpPr/>
          <p:nvPr/>
        </p:nvSpPr>
        <p:spPr>
          <a:xfrm>
            <a:off x="4663232" y="3389337"/>
            <a:ext cx="1343174" cy="110728"/>
          </a:xfrm>
          <a:prstGeom prst="rect">
            <a:avLst/>
          </a:prstGeom>
          <a:noFill/>
          <a:ln/>
        </p:spPr>
        <p:txBody>
          <a:bodyPr wrap="none" lIns="0" tIns="0" rIns="0" bIns="0" rtlCol="0" anchor="t"/>
          <a:lstStyle/>
          <a:p>
            <a:pPr algn="l" indent="0" marL="0">
              <a:lnSpc>
                <a:spcPct val="104000"/>
              </a:lnSpc>
              <a:buNone/>
            </a:pPr>
            <a:r>
              <a:rPr lang="en-US" sz="650" dirty="0">
                <a:solidFill>
                  <a:srgbClr val="3257B8"/>
                </a:solidFill>
                <a:latin typeface="Roboto Slab" pitchFamily="34" charset="0"/>
                <a:ea typeface="Roboto Slab" pitchFamily="34" charset="-122"/>
                <a:cs typeface="Roboto Slab" pitchFamily="34" charset="-120"/>
              </a:rPr>
              <a:t>Business Websites</a:t>
            </a:r>
            <a:endParaRPr lang="en-US" sz="650" dirty="0"/>
          </a:p>
        </p:txBody>
      </p:sp>
      <p:sp>
        <p:nvSpPr>
          <p:cNvPr id="8" name="Text 4"/>
          <p:cNvSpPr/>
          <p:nvPr/>
        </p:nvSpPr>
        <p:spPr>
          <a:xfrm>
            <a:off x="4663232" y="3535487"/>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Professional, mobile-friendly presence — your 24/7 digital brochure.</a:t>
            </a:r>
            <a:endParaRPr lang="en-US" sz="550" dirty="0"/>
          </a:p>
        </p:txBody>
      </p:sp>
      <p:sp>
        <p:nvSpPr>
          <p:cNvPr id="9" name="Text 5"/>
          <p:cNvSpPr/>
          <p:nvPr/>
        </p:nvSpPr>
        <p:spPr>
          <a:xfrm>
            <a:off x="4663232" y="3655963"/>
            <a:ext cx="1412304" cy="110728"/>
          </a:xfrm>
          <a:prstGeom prst="rect">
            <a:avLst/>
          </a:prstGeom>
          <a:noFill/>
          <a:ln/>
        </p:spPr>
        <p:txBody>
          <a:bodyPr wrap="none" lIns="0" tIns="0" rIns="0" bIns="0" rtlCol="0" anchor="t"/>
          <a:lstStyle/>
          <a:p>
            <a:pPr algn="l" indent="0" marL="0">
              <a:lnSpc>
                <a:spcPct val="104000"/>
              </a:lnSpc>
              <a:buNone/>
            </a:pPr>
            <a:r>
              <a:rPr lang="en-US" sz="650" dirty="0">
                <a:solidFill>
                  <a:srgbClr val="3257B8"/>
                </a:solidFill>
                <a:latin typeface="Roboto Slab" pitchFamily="34" charset="0"/>
                <a:ea typeface="Roboto Slab" pitchFamily="34" charset="-122"/>
                <a:cs typeface="Roboto Slab" pitchFamily="34" charset="-120"/>
              </a:rPr>
              <a:t>E-Commerce Solutions</a:t>
            </a:r>
            <a:endParaRPr lang="en-US" sz="650" dirty="0"/>
          </a:p>
        </p:txBody>
      </p:sp>
      <p:sp>
        <p:nvSpPr>
          <p:cNvPr id="10" name="Text 6"/>
          <p:cNvSpPr/>
          <p:nvPr/>
        </p:nvSpPr>
        <p:spPr>
          <a:xfrm>
            <a:off x="4663232" y="3802112"/>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Seamless online storefront with secure payments and inventory tools.</a:t>
            </a:r>
            <a:endParaRPr lang="en-US" sz="550" dirty="0"/>
          </a:p>
        </p:txBody>
      </p:sp>
      <p:sp>
        <p:nvSpPr>
          <p:cNvPr id="11" name="Text 7"/>
          <p:cNvSpPr/>
          <p:nvPr/>
        </p:nvSpPr>
        <p:spPr>
          <a:xfrm>
            <a:off x="4663232" y="3922588"/>
            <a:ext cx="1408286" cy="110728"/>
          </a:xfrm>
          <a:prstGeom prst="rect">
            <a:avLst/>
          </a:prstGeom>
          <a:noFill/>
          <a:ln/>
        </p:spPr>
        <p:txBody>
          <a:bodyPr wrap="none" lIns="0" tIns="0" rIns="0" bIns="0" rtlCol="0" anchor="t"/>
          <a:lstStyle/>
          <a:p>
            <a:pPr algn="l" indent="0" marL="0">
              <a:lnSpc>
                <a:spcPct val="104000"/>
              </a:lnSpc>
              <a:buNone/>
            </a:pPr>
            <a:r>
              <a:rPr lang="en-US" sz="650" dirty="0">
                <a:solidFill>
                  <a:srgbClr val="3257B8"/>
                </a:solidFill>
                <a:latin typeface="Roboto Slab" pitchFamily="34" charset="0"/>
                <a:ea typeface="Roboto Slab" pitchFamily="34" charset="-122"/>
                <a:cs typeface="Roboto Slab" pitchFamily="34" charset="-120"/>
              </a:rPr>
              <a:t>Management Software</a:t>
            </a:r>
            <a:endParaRPr lang="en-US" sz="650" dirty="0"/>
          </a:p>
        </p:txBody>
      </p:sp>
      <p:sp>
        <p:nvSpPr>
          <p:cNvPr id="12" name="Text 8"/>
          <p:cNvSpPr/>
          <p:nvPr/>
        </p:nvSpPr>
        <p:spPr>
          <a:xfrm>
            <a:off x="4663232" y="4068738"/>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CRM, finance, and analytics — one unified system.</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28253"/>
            <a:ext cx="562942" cy="163562"/>
          </a:xfrm>
          <a:prstGeom prst="roundRect">
            <a:avLst>
              <a:gd name="adj" fmla="val 7151"/>
            </a:avLst>
          </a:prstGeom>
          <a:solidFill>
            <a:srgbClr val="D7DFF4"/>
          </a:solidFill>
          <a:ln/>
        </p:spPr>
      </p:sp>
      <p:sp>
        <p:nvSpPr>
          <p:cNvPr id="3" name="Text 1"/>
          <p:cNvSpPr/>
          <p:nvPr/>
        </p:nvSpPr>
        <p:spPr>
          <a:xfrm>
            <a:off x="554534" y="457423"/>
            <a:ext cx="903312" cy="105221"/>
          </a:xfrm>
          <a:prstGeom prst="rect">
            <a:avLst/>
          </a:prstGeom>
          <a:noFill/>
          <a:ln/>
        </p:spPr>
        <p:txBody>
          <a:bodyPr wrap="none" lIns="0" tIns="0" rIns="0" bIns="0" rtlCol="0" anchor="t"/>
          <a:lstStyle/>
          <a:p>
            <a:pPr algn="l" indent="0" marL="0">
              <a:lnSpc>
                <a:spcPct val="112000"/>
              </a:lnSpc>
              <a:buNone/>
            </a:pPr>
            <a:r>
              <a:rPr lang="en-US" sz="600" dirty="0">
                <a:solidFill>
                  <a:srgbClr val="15213F"/>
                </a:solidFill>
                <a:latin typeface="Roboto" pitchFamily="34" charset="0"/>
                <a:ea typeface="Roboto" pitchFamily="34" charset="-122"/>
                <a:cs typeface="Roboto" pitchFamily="34" charset="-120"/>
              </a:rPr>
              <a:t>MOBILE APP</a:t>
            </a:r>
            <a:endParaRPr lang="en-US" sz="600" dirty="0"/>
          </a:p>
        </p:txBody>
      </p:sp>
      <p:pic>
        <p:nvPicPr>
          <p:cNvPr id="4" name="Image 0" descr="preencoded.png">    </p:cNvPr>
          <p:cNvPicPr>
            <a:picLocks noChangeAspect="1"/>
          </p:cNvPicPr>
          <p:nvPr/>
        </p:nvPicPr>
        <p:blipFill>
          <a:blip r:embed="rId1"/>
          <a:stretch>
            <a:fillRect/>
          </a:stretch>
        </p:blipFill>
        <p:spPr>
          <a:xfrm>
            <a:off x="8080697" y="667196"/>
            <a:ext cx="567184" cy="567184"/>
          </a:xfrm>
          <a:prstGeom prst="rect">
            <a:avLst/>
          </a:prstGeom>
        </p:spPr>
      </p:pic>
      <p:sp>
        <p:nvSpPr>
          <p:cNvPr id="5" name="Text 2"/>
          <p:cNvSpPr/>
          <p:nvPr/>
        </p:nvSpPr>
        <p:spPr>
          <a:xfrm>
            <a:off x="496119" y="1334839"/>
            <a:ext cx="3516660" cy="304502"/>
          </a:xfrm>
          <a:prstGeom prst="rect">
            <a:avLst/>
          </a:prstGeom>
          <a:noFill/>
          <a:ln/>
        </p:spPr>
        <p:txBody>
          <a:bodyPr wrap="none" lIns="0" tIns="0" rIns="0" bIns="0" rtlCol="0" anchor="t"/>
          <a:lstStyle/>
          <a:p>
            <a:pPr algn="l" indent="0" marL="0">
              <a:lnSpc>
                <a:spcPct val="104000"/>
              </a:lnSpc>
              <a:buNone/>
            </a:pPr>
            <a:r>
              <a:rPr lang="en-US" sz="1900" dirty="0">
                <a:solidFill>
                  <a:srgbClr val="3257B8"/>
                </a:solidFill>
                <a:latin typeface="Roboto Slab" pitchFamily="34" charset="0"/>
                <a:ea typeface="Roboto Slab" pitchFamily="34" charset="-122"/>
                <a:cs typeface="Roboto Slab" pitchFamily="34" charset="-120"/>
              </a:rPr>
              <a:t>The Agrawal Brothers App</a:t>
            </a:r>
            <a:endParaRPr lang="en-US" sz="1900" dirty="0"/>
          </a:p>
        </p:txBody>
      </p:sp>
      <p:sp>
        <p:nvSpPr>
          <p:cNvPr id="6" name="Text 3"/>
          <p:cNvSpPr/>
          <p:nvPr/>
        </p:nvSpPr>
        <p:spPr>
          <a:xfrm>
            <a:off x="496119" y="1739801"/>
            <a:ext cx="8608963"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Available on iOS &amp; Android — your customers, always connected.</a:t>
            </a:r>
            <a:endParaRPr lang="en-US" sz="750" dirty="0"/>
          </a:p>
        </p:txBody>
      </p:sp>
      <p:sp>
        <p:nvSpPr>
          <p:cNvPr id="7" name="Shape 4"/>
          <p:cNvSpPr/>
          <p:nvPr/>
        </p:nvSpPr>
        <p:spPr>
          <a:xfrm>
            <a:off x="496119" y="1946746"/>
            <a:ext cx="4042395" cy="878160"/>
          </a:xfrm>
          <a:prstGeom prst="roundRect">
            <a:avLst>
              <a:gd name="adj" fmla="val 1665"/>
            </a:avLst>
          </a:prstGeom>
          <a:solidFill>
            <a:srgbClr val="E9ECF2"/>
          </a:solidFill>
          <a:ln/>
        </p:spPr>
      </p:sp>
      <p:sp>
        <p:nvSpPr>
          <p:cNvPr id="8" name="Shape 5"/>
          <p:cNvSpPr/>
          <p:nvPr/>
        </p:nvSpPr>
        <p:spPr>
          <a:xfrm>
            <a:off x="593527" y="2044154"/>
            <a:ext cx="292373" cy="292373"/>
          </a:xfrm>
          <a:prstGeom prst="ellipse">
            <a:avLst/>
          </a:prstGeom>
          <a:solidFill>
            <a:srgbClr val="476FD6"/>
          </a:solidFill>
          <a:ln/>
        </p:spPr>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3894" y="2124521"/>
            <a:ext cx="131564" cy="131564"/>
          </a:xfrm>
          <a:prstGeom prst="rect">
            <a:avLst/>
          </a:prstGeom>
        </p:spPr>
      </p:pic>
      <p:sp>
        <p:nvSpPr>
          <p:cNvPr id="10" name="Text 6"/>
          <p:cNvSpPr/>
          <p:nvPr/>
        </p:nvSpPr>
        <p:spPr>
          <a:xfrm>
            <a:off x="593527" y="2403500"/>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Product Catalog</a:t>
            </a:r>
            <a:endParaRPr lang="en-US" sz="950" dirty="0"/>
          </a:p>
        </p:txBody>
      </p:sp>
      <p:sp>
        <p:nvSpPr>
          <p:cNvPr id="11" name="Text 7"/>
          <p:cNvSpPr/>
          <p:nvPr/>
        </p:nvSpPr>
        <p:spPr>
          <a:xfrm>
            <a:off x="593527" y="2595935"/>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Browse inventory anytime</a:t>
            </a:r>
            <a:endParaRPr lang="en-US" sz="750" dirty="0"/>
          </a:p>
        </p:txBody>
      </p:sp>
      <p:sp>
        <p:nvSpPr>
          <p:cNvPr id="12" name="Shape 8"/>
          <p:cNvSpPr/>
          <p:nvPr/>
        </p:nvSpPr>
        <p:spPr>
          <a:xfrm>
            <a:off x="4605486" y="1946746"/>
            <a:ext cx="4042395" cy="878160"/>
          </a:xfrm>
          <a:prstGeom prst="roundRect">
            <a:avLst>
              <a:gd name="adj" fmla="val 1665"/>
            </a:avLst>
          </a:prstGeom>
          <a:solidFill>
            <a:srgbClr val="E9ECF2"/>
          </a:solidFill>
          <a:ln/>
        </p:spPr>
      </p:sp>
      <p:sp>
        <p:nvSpPr>
          <p:cNvPr id="13" name="Shape 9"/>
          <p:cNvSpPr/>
          <p:nvPr/>
        </p:nvSpPr>
        <p:spPr>
          <a:xfrm>
            <a:off x="4702894" y="2044154"/>
            <a:ext cx="292373" cy="292373"/>
          </a:xfrm>
          <a:prstGeom prst="ellipse">
            <a:avLst/>
          </a:prstGeom>
          <a:solidFill>
            <a:srgbClr val="476FD6"/>
          </a:solidFill>
          <a:ln/>
        </p:spPr>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83262" y="2124521"/>
            <a:ext cx="131564" cy="131564"/>
          </a:xfrm>
          <a:prstGeom prst="rect">
            <a:avLst/>
          </a:prstGeom>
        </p:spPr>
      </p:pic>
      <p:sp>
        <p:nvSpPr>
          <p:cNvPr id="15" name="Text 10"/>
          <p:cNvSpPr/>
          <p:nvPr/>
        </p:nvSpPr>
        <p:spPr>
          <a:xfrm>
            <a:off x="4702894" y="2403500"/>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Order Management</a:t>
            </a:r>
            <a:endParaRPr lang="en-US" sz="950" dirty="0"/>
          </a:p>
        </p:txBody>
      </p:sp>
      <p:sp>
        <p:nvSpPr>
          <p:cNvPr id="16" name="Text 11"/>
          <p:cNvSpPr/>
          <p:nvPr/>
        </p:nvSpPr>
        <p:spPr>
          <a:xfrm>
            <a:off x="4702894" y="2595935"/>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Place and track orders</a:t>
            </a:r>
            <a:endParaRPr lang="en-US" sz="750" dirty="0"/>
          </a:p>
        </p:txBody>
      </p:sp>
      <p:sp>
        <p:nvSpPr>
          <p:cNvPr id="17" name="Shape 12"/>
          <p:cNvSpPr/>
          <p:nvPr/>
        </p:nvSpPr>
        <p:spPr>
          <a:xfrm>
            <a:off x="496119" y="2891879"/>
            <a:ext cx="4042395" cy="878160"/>
          </a:xfrm>
          <a:prstGeom prst="roundRect">
            <a:avLst>
              <a:gd name="adj" fmla="val 1665"/>
            </a:avLst>
          </a:prstGeom>
          <a:solidFill>
            <a:srgbClr val="E9ECF2"/>
          </a:solidFill>
          <a:ln/>
        </p:spPr>
      </p:sp>
      <p:sp>
        <p:nvSpPr>
          <p:cNvPr id="18" name="Shape 13"/>
          <p:cNvSpPr/>
          <p:nvPr/>
        </p:nvSpPr>
        <p:spPr>
          <a:xfrm>
            <a:off x="593527" y="2989287"/>
            <a:ext cx="292373" cy="292373"/>
          </a:xfrm>
          <a:prstGeom prst="ellipse">
            <a:avLst/>
          </a:prstGeom>
          <a:solidFill>
            <a:srgbClr val="476FD6"/>
          </a:solidFill>
          <a:ln/>
        </p:spPr>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3894" y="3069654"/>
            <a:ext cx="131564" cy="131564"/>
          </a:xfrm>
          <a:prstGeom prst="rect">
            <a:avLst/>
          </a:prstGeom>
        </p:spPr>
      </p:pic>
      <p:sp>
        <p:nvSpPr>
          <p:cNvPr id="20" name="Text 14"/>
          <p:cNvSpPr/>
          <p:nvPr/>
        </p:nvSpPr>
        <p:spPr>
          <a:xfrm>
            <a:off x="593527" y="3348633"/>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Customer Chat</a:t>
            </a:r>
            <a:endParaRPr lang="en-US" sz="950" dirty="0"/>
          </a:p>
        </p:txBody>
      </p:sp>
      <p:sp>
        <p:nvSpPr>
          <p:cNvPr id="21" name="Text 15"/>
          <p:cNvSpPr/>
          <p:nvPr/>
        </p:nvSpPr>
        <p:spPr>
          <a:xfrm>
            <a:off x="593527" y="3541068"/>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Direct support channel</a:t>
            </a:r>
            <a:endParaRPr lang="en-US" sz="750" dirty="0"/>
          </a:p>
        </p:txBody>
      </p:sp>
      <p:sp>
        <p:nvSpPr>
          <p:cNvPr id="22" name="Shape 16"/>
          <p:cNvSpPr/>
          <p:nvPr/>
        </p:nvSpPr>
        <p:spPr>
          <a:xfrm>
            <a:off x="4605486" y="2891879"/>
            <a:ext cx="4042395" cy="878160"/>
          </a:xfrm>
          <a:prstGeom prst="roundRect">
            <a:avLst>
              <a:gd name="adj" fmla="val 1665"/>
            </a:avLst>
          </a:prstGeom>
          <a:solidFill>
            <a:srgbClr val="E9ECF2"/>
          </a:solidFill>
          <a:ln/>
        </p:spPr>
      </p:sp>
      <p:sp>
        <p:nvSpPr>
          <p:cNvPr id="23" name="Shape 17"/>
          <p:cNvSpPr/>
          <p:nvPr/>
        </p:nvSpPr>
        <p:spPr>
          <a:xfrm>
            <a:off x="4702894" y="2989287"/>
            <a:ext cx="292373" cy="292373"/>
          </a:xfrm>
          <a:prstGeom prst="ellipse">
            <a:avLst/>
          </a:prstGeom>
          <a:solidFill>
            <a:srgbClr val="476FD6"/>
          </a:solidFill>
          <a:ln/>
        </p:spPr>
      </p:sp>
      <p:pic>
        <p:nvPicPr>
          <p:cNvPr id="2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83262" y="3069654"/>
            <a:ext cx="131564" cy="131564"/>
          </a:xfrm>
          <a:prstGeom prst="rect">
            <a:avLst/>
          </a:prstGeom>
        </p:spPr>
      </p:pic>
      <p:sp>
        <p:nvSpPr>
          <p:cNvPr id="25" name="Text 18"/>
          <p:cNvSpPr/>
          <p:nvPr/>
        </p:nvSpPr>
        <p:spPr>
          <a:xfrm>
            <a:off x="4702894" y="3348633"/>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Store Locator</a:t>
            </a:r>
            <a:endParaRPr lang="en-US" sz="950" dirty="0"/>
          </a:p>
        </p:txBody>
      </p:sp>
      <p:sp>
        <p:nvSpPr>
          <p:cNvPr id="26" name="Text 19"/>
          <p:cNvSpPr/>
          <p:nvPr/>
        </p:nvSpPr>
        <p:spPr>
          <a:xfrm>
            <a:off x="4702894" y="3541068"/>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Find us across cities</a:t>
            </a:r>
            <a:endParaRPr lang="en-US" sz="750" dirty="0"/>
          </a:p>
        </p:txBody>
      </p:sp>
      <p:sp>
        <p:nvSpPr>
          <p:cNvPr id="27" name="Shape 20"/>
          <p:cNvSpPr/>
          <p:nvPr/>
        </p:nvSpPr>
        <p:spPr>
          <a:xfrm>
            <a:off x="496119" y="3837012"/>
            <a:ext cx="4042395" cy="878160"/>
          </a:xfrm>
          <a:prstGeom prst="roundRect">
            <a:avLst>
              <a:gd name="adj" fmla="val 1665"/>
            </a:avLst>
          </a:prstGeom>
          <a:solidFill>
            <a:srgbClr val="E9ECF2"/>
          </a:solidFill>
          <a:ln/>
        </p:spPr>
      </p:sp>
      <p:sp>
        <p:nvSpPr>
          <p:cNvPr id="28" name="Shape 21"/>
          <p:cNvSpPr/>
          <p:nvPr/>
        </p:nvSpPr>
        <p:spPr>
          <a:xfrm>
            <a:off x="593527" y="3934420"/>
            <a:ext cx="292373" cy="292373"/>
          </a:xfrm>
          <a:prstGeom prst="ellipse">
            <a:avLst/>
          </a:prstGeom>
          <a:solidFill>
            <a:srgbClr val="476FD6"/>
          </a:solidFill>
          <a:ln/>
        </p:spPr>
      </p:sp>
      <p:pic>
        <p:nvPicPr>
          <p:cNvPr id="2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3894" y="4014788"/>
            <a:ext cx="131564" cy="131564"/>
          </a:xfrm>
          <a:prstGeom prst="rect">
            <a:avLst/>
          </a:prstGeom>
        </p:spPr>
      </p:pic>
      <p:sp>
        <p:nvSpPr>
          <p:cNvPr id="30" name="Text 22"/>
          <p:cNvSpPr/>
          <p:nvPr/>
        </p:nvSpPr>
        <p:spPr>
          <a:xfrm>
            <a:off x="593527" y="4293766"/>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Loyalty Program</a:t>
            </a:r>
            <a:endParaRPr lang="en-US" sz="950" dirty="0"/>
          </a:p>
        </p:txBody>
      </p:sp>
      <p:sp>
        <p:nvSpPr>
          <p:cNvPr id="31" name="Text 23"/>
          <p:cNvSpPr/>
          <p:nvPr/>
        </p:nvSpPr>
        <p:spPr>
          <a:xfrm>
            <a:off x="593527" y="4486201"/>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Rewards and retention</a:t>
            </a:r>
            <a:endParaRPr lang="en-US" sz="750" dirty="0"/>
          </a:p>
        </p:txBody>
      </p:sp>
      <p:sp>
        <p:nvSpPr>
          <p:cNvPr id="32" name="Shape 24"/>
          <p:cNvSpPr/>
          <p:nvPr/>
        </p:nvSpPr>
        <p:spPr>
          <a:xfrm>
            <a:off x="4605486" y="3837012"/>
            <a:ext cx="4042395" cy="878160"/>
          </a:xfrm>
          <a:prstGeom prst="roundRect">
            <a:avLst>
              <a:gd name="adj" fmla="val 1665"/>
            </a:avLst>
          </a:prstGeom>
          <a:solidFill>
            <a:srgbClr val="E9ECF2"/>
          </a:solidFill>
          <a:ln/>
        </p:spPr>
      </p:sp>
      <p:sp>
        <p:nvSpPr>
          <p:cNvPr id="33" name="Shape 25"/>
          <p:cNvSpPr/>
          <p:nvPr/>
        </p:nvSpPr>
        <p:spPr>
          <a:xfrm>
            <a:off x="4702894" y="3934420"/>
            <a:ext cx="292373" cy="292373"/>
          </a:xfrm>
          <a:prstGeom prst="ellipse">
            <a:avLst/>
          </a:prstGeom>
          <a:solidFill>
            <a:srgbClr val="476FD6"/>
          </a:solidFill>
          <a:ln/>
        </p:spPr>
      </p:sp>
      <p:pic>
        <p:nvPicPr>
          <p:cNvPr id="34"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83262" y="4014788"/>
            <a:ext cx="131564" cy="131564"/>
          </a:xfrm>
          <a:prstGeom prst="rect">
            <a:avLst/>
          </a:prstGeom>
        </p:spPr>
      </p:pic>
      <p:sp>
        <p:nvSpPr>
          <p:cNvPr id="35" name="Text 26"/>
          <p:cNvSpPr/>
          <p:nvPr/>
        </p:nvSpPr>
        <p:spPr>
          <a:xfrm>
            <a:off x="4702894" y="4293766"/>
            <a:ext cx="1218307" cy="152251"/>
          </a:xfrm>
          <a:prstGeom prst="rect">
            <a:avLst/>
          </a:prstGeom>
          <a:noFill/>
          <a:ln/>
        </p:spPr>
        <p:txBody>
          <a:bodyPr wrap="none" lIns="0" tIns="0" rIns="0" bIns="0" rtlCol="0" anchor="t"/>
          <a:lstStyle/>
          <a:p>
            <a:pPr algn="l" indent="0" marL="0">
              <a:lnSpc>
                <a:spcPct val="104000"/>
              </a:lnSpc>
              <a:buNone/>
            </a:pPr>
            <a:r>
              <a:rPr lang="en-US" sz="950" dirty="0">
                <a:solidFill>
                  <a:srgbClr val="15213F"/>
                </a:solidFill>
                <a:latin typeface="Roboto Slab" pitchFamily="34" charset="0"/>
                <a:ea typeface="Roboto Slab" pitchFamily="34" charset="-122"/>
                <a:cs typeface="Roboto Slab" pitchFamily="34" charset="-120"/>
              </a:rPr>
              <a:t>Promotions &amp; Offers</a:t>
            </a:r>
            <a:endParaRPr lang="en-US" sz="950" dirty="0"/>
          </a:p>
        </p:txBody>
      </p:sp>
      <p:sp>
        <p:nvSpPr>
          <p:cNvPr id="36" name="Text 27"/>
          <p:cNvSpPr/>
          <p:nvPr/>
        </p:nvSpPr>
        <p:spPr>
          <a:xfrm>
            <a:off x="4702894" y="4486201"/>
            <a:ext cx="3847579" cy="131564"/>
          </a:xfrm>
          <a:prstGeom prst="rect">
            <a:avLst/>
          </a:prstGeom>
          <a:noFill/>
          <a:ln/>
        </p:spPr>
        <p:txBody>
          <a:bodyPr wrap="none" lIns="0" tIns="0" rIns="0" bIns="0" rtlCol="0" anchor="t"/>
          <a:lstStyle/>
          <a:p>
            <a:pPr algn="l" indent="0" marL="0">
              <a:lnSpc>
                <a:spcPct val="113000"/>
              </a:lnSpc>
              <a:buNone/>
            </a:pPr>
            <a:r>
              <a:rPr lang="en-US" sz="750" dirty="0">
                <a:solidFill>
                  <a:srgbClr val="15213F"/>
                </a:solidFill>
                <a:latin typeface="Roboto" pitchFamily="34" charset="0"/>
                <a:ea typeface="Roboto" pitchFamily="34" charset="-122"/>
                <a:cs typeface="Roboto" pitchFamily="34" charset="-120"/>
              </a:rPr>
              <a:t>Instant deals and updates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89855"/>
            <a:ext cx="422300" cy="110430"/>
          </a:xfrm>
          <a:prstGeom prst="roundRect">
            <a:avLst>
              <a:gd name="adj" fmla="val 7703"/>
            </a:avLst>
          </a:prstGeom>
          <a:noFill/>
          <a:ln/>
          <a:effectLst>
            <a:outerShdw sx="100000" sy="100000" kx="0" ky="0" algn="bl" rotWithShape="0" blurRad="101600" dist="50800" dir="16200000">
              <a:srgbClr val="3257b8">
                <a:alpha val="100000"/>
              </a:srgbClr>
            </a:outerShdw>
          </a:effectLst>
        </p:spPr>
      </p:sp>
      <p:sp>
        <p:nvSpPr>
          <p:cNvPr id="3" name="Text 1"/>
          <p:cNvSpPr/>
          <p:nvPr/>
        </p:nvSpPr>
        <p:spPr>
          <a:xfrm>
            <a:off x="538609" y="411063"/>
            <a:ext cx="794519" cy="68014"/>
          </a:xfrm>
          <a:prstGeom prst="rect">
            <a:avLst/>
          </a:prstGeom>
          <a:noFill/>
          <a:ln/>
        </p:spPr>
        <p:txBody>
          <a:bodyPr wrap="none" lIns="0" tIns="0" rIns="0" bIns="0" rtlCol="0" anchor="t"/>
          <a:lstStyle/>
          <a:p>
            <a:pPr algn="l" indent="0" marL="0">
              <a:lnSpc>
                <a:spcPct val="100000"/>
              </a:lnSpc>
              <a:buNone/>
            </a:pPr>
            <a:r>
              <a:rPr lang="en-US" sz="400" dirty="0">
                <a:solidFill>
                  <a:srgbClr val="3257B8"/>
                </a:solidFill>
                <a:latin typeface="Roboto" pitchFamily="34" charset="0"/>
                <a:ea typeface="Roboto" pitchFamily="34" charset="-122"/>
                <a:cs typeface="Roboto" pitchFamily="34" charset="-120"/>
              </a:rPr>
              <a:t>OPERATIONS</a:t>
            </a:r>
            <a:endParaRPr lang="en-US" sz="400" dirty="0"/>
          </a:p>
        </p:txBody>
      </p:sp>
      <p:pic>
        <p:nvPicPr>
          <p:cNvPr id="4" name="Image 0" descr="preencoded.png">    </p:cNvPr>
          <p:cNvPicPr>
            <a:picLocks noChangeAspect="1"/>
          </p:cNvPicPr>
          <p:nvPr/>
        </p:nvPicPr>
        <p:blipFill>
          <a:blip r:embed="rId1"/>
          <a:stretch>
            <a:fillRect/>
          </a:stretch>
        </p:blipFill>
        <p:spPr>
          <a:xfrm>
            <a:off x="8247906" y="540097"/>
            <a:ext cx="399976" cy="399976"/>
          </a:xfrm>
          <a:prstGeom prst="rect">
            <a:avLst/>
          </a:prstGeom>
        </p:spPr>
      </p:pic>
      <p:sp>
        <p:nvSpPr>
          <p:cNvPr id="5" name="Text 2"/>
          <p:cNvSpPr/>
          <p:nvPr/>
        </p:nvSpPr>
        <p:spPr>
          <a:xfrm>
            <a:off x="496119" y="993204"/>
            <a:ext cx="2828553" cy="221456"/>
          </a:xfrm>
          <a:prstGeom prst="rect">
            <a:avLst/>
          </a:prstGeom>
          <a:noFill/>
          <a:ln/>
        </p:spPr>
        <p:txBody>
          <a:bodyPr wrap="none" lIns="0" tIns="0" rIns="0" bIns="0" rtlCol="0" anchor="t"/>
          <a:lstStyle/>
          <a:p>
            <a:pPr algn="l" indent="0" marL="0">
              <a:lnSpc>
                <a:spcPct val="104000"/>
              </a:lnSpc>
              <a:buNone/>
            </a:pPr>
            <a:r>
              <a:rPr lang="en-US" sz="1350" dirty="0">
                <a:solidFill>
                  <a:srgbClr val="3257B8"/>
                </a:solidFill>
                <a:latin typeface="Roboto Slab" pitchFamily="34" charset="0"/>
                <a:ea typeface="Roboto Slab" pitchFamily="34" charset="-122"/>
                <a:cs typeface="Roboto Slab" pitchFamily="34" charset="-120"/>
              </a:rPr>
              <a:t>Business Management Suite</a:t>
            </a:r>
            <a:endParaRPr lang="en-US" sz="1350" dirty="0"/>
          </a:p>
        </p:txBody>
      </p:sp>
      <p:sp>
        <p:nvSpPr>
          <p:cNvPr id="6" name="Text 3"/>
          <p:cNvSpPr/>
          <p:nvPr/>
        </p:nvSpPr>
        <p:spPr>
          <a:xfrm>
            <a:off x="496119" y="1267792"/>
            <a:ext cx="8608963"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One platform to manage operations across Jaipur, Indore, Patna, and Rasra.</a:t>
            </a:r>
            <a:endParaRPr lang="en-US" sz="550" dirty="0"/>
          </a:p>
        </p:txBody>
      </p:sp>
      <p:pic>
        <p:nvPicPr>
          <p:cNvPr id="7" name="Image 1" descr="preencoded.png">    </p:cNvPr>
          <p:cNvPicPr>
            <a:picLocks noChangeAspect="1"/>
          </p:cNvPicPr>
          <p:nvPr/>
        </p:nvPicPr>
        <p:blipFill>
          <a:blip r:embed="rId2"/>
          <a:stretch>
            <a:fillRect/>
          </a:stretch>
        </p:blipFill>
        <p:spPr>
          <a:xfrm>
            <a:off x="496119" y="1432471"/>
            <a:ext cx="3989412" cy="3989412"/>
          </a:xfrm>
          <a:prstGeom prst="rect">
            <a:avLst/>
          </a:prstGeom>
        </p:spPr>
      </p:pic>
      <p:pic>
        <p:nvPicPr>
          <p:cNvPr id="8"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3232" y="3017490"/>
            <a:ext cx="1976958" cy="391939"/>
          </a:xfrm>
          <a:prstGeom prst="rect">
            <a:avLst/>
          </a:prstGeom>
        </p:spPr>
      </p:pic>
      <p:sp>
        <p:nvSpPr>
          <p:cNvPr id="9" name="Text 4"/>
          <p:cNvSpPr/>
          <p:nvPr/>
        </p:nvSpPr>
        <p:spPr>
          <a:xfrm>
            <a:off x="4781699" y="3097857"/>
            <a:ext cx="885974" cy="110728"/>
          </a:xfrm>
          <a:prstGeom prst="rect">
            <a:avLst/>
          </a:prstGeom>
          <a:noFill/>
          <a:ln/>
        </p:spPr>
        <p:txBody>
          <a:bodyPr wrap="none" lIns="0" tIns="0" rIns="0" bIns="0" rtlCol="0" anchor="t"/>
          <a:lstStyle/>
          <a:p>
            <a:pPr algn="l" indent="0" marL="0">
              <a:lnSpc>
                <a:spcPct val="104000"/>
              </a:lnSpc>
              <a:buNone/>
            </a:pPr>
            <a:r>
              <a:rPr lang="en-US" sz="650" dirty="0">
                <a:solidFill>
                  <a:srgbClr val="15213F"/>
                </a:solidFill>
                <a:latin typeface="Roboto Slab" pitchFamily="34" charset="0"/>
                <a:ea typeface="Roboto Slab" pitchFamily="34" charset="-122"/>
                <a:cs typeface="Roboto Slab" pitchFamily="34" charset="-120"/>
              </a:rPr>
              <a:t>Real-Time Visibility</a:t>
            </a:r>
            <a:endParaRPr lang="en-US" sz="650" dirty="0"/>
          </a:p>
        </p:txBody>
      </p:sp>
      <p:sp>
        <p:nvSpPr>
          <p:cNvPr id="10" name="Text 5"/>
          <p:cNvSpPr/>
          <p:nvPr/>
        </p:nvSpPr>
        <p:spPr>
          <a:xfrm>
            <a:off x="4781699" y="3244007"/>
            <a:ext cx="1778124"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Inventory and sales at a glance</a:t>
            </a:r>
            <a:endParaRPr lang="en-US" sz="550" dirty="0"/>
          </a:p>
        </p:txBody>
      </p:sp>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5611" y="3017490"/>
            <a:ext cx="1977033" cy="391939"/>
          </a:xfrm>
          <a:prstGeom prst="rect">
            <a:avLst/>
          </a:prstGeom>
        </p:spPr>
      </p:pic>
      <p:sp>
        <p:nvSpPr>
          <p:cNvPr id="12" name="Text 6"/>
          <p:cNvSpPr/>
          <p:nvPr/>
        </p:nvSpPr>
        <p:spPr>
          <a:xfrm>
            <a:off x="6794078" y="3097857"/>
            <a:ext cx="953988" cy="110728"/>
          </a:xfrm>
          <a:prstGeom prst="rect">
            <a:avLst/>
          </a:prstGeom>
          <a:noFill/>
          <a:ln/>
        </p:spPr>
        <p:txBody>
          <a:bodyPr wrap="none" lIns="0" tIns="0" rIns="0" bIns="0" rtlCol="0" anchor="t"/>
          <a:lstStyle/>
          <a:p>
            <a:pPr algn="l" indent="0" marL="0">
              <a:lnSpc>
                <a:spcPct val="104000"/>
              </a:lnSpc>
              <a:buNone/>
            </a:pPr>
            <a:r>
              <a:rPr lang="en-US" sz="650" dirty="0">
                <a:solidFill>
                  <a:srgbClr val="15213F"/>
                </a:solidFill>
                <a:latin typeface="Roboto Slab" pitchFamily="34" charset="0"/>
                <a:ea typeface="Roboto Slab" pitchFamily="34" charset="-122"/>
                <a:cs typeface="Roboto Slab" pitchFamily="34" charset="-120"/>
              </a:rPr>
              <a:t>Multi-Location Control</a:t>
            </a:r>
            <a:endParaRPr lang="en-US" sz="650" dirty="0"/>
          </a:p>
        </p:txBody>
      </p:sp>
      <p:sp>
        <p:nvSpPr>
          <p:cNvPr id="13" name="Text 7"/>
          <p:cNvSpPr/>
          <p:nvPr/>
        </p:nvSpPr>
        <p:spPr>
          <a:xfrm>
            <a:off x="6794078" y="3244007"/>
            <a:ext cx="1778198"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Manage all branches centrally</a:t>
            </a:r>
            <a:endParaRPr lang="en-US" sz="550" dirty="0"/>
          </a:p>
        </p:txBody>
      </p:sp>
      <p:pic>
        <p:nvPicPr>
          <p:cNvPr id="14"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63232" y="3444850"/>
            <a:ext cx="1976958" cy="391939"/>
          </a:xfrm>
          <a:prstGeom prst="rect">
            <a:avLst/>
          </a:prstGeom>
        </p:spPr>
      </p:pic>
      <p:sp>
        <p:nvSpPr>
          <p:cNvPr id="15" name="Text 8"/>
          <p:cNvSpPr/>
          <p:nvPr/>
        </p:nvSpPr>
        <p:spPr>
          <a:xfrm>
            <a:off x="4781699" y="3525217"/>
            <a:ext cx="885974" cy="110728"/>
          </a:xfrm>
          <a:prstGeom prst="rect">
            <a:avLst/>
          </a:prstGeom>
          <a:noFill/>
          <a:ln/>
        </p:spPr>
        <p:txBody>
          <a:bodyPr wrap="none" lIns="0" tIns="0" rIns="0" bIns="0" rtlCol="0" anchor="t"/>
          <a:lstStyle/>
          <a:p>
            <a:pPr algn="l" indent="0" marL="0">
              <a:lnSpc>
                <a:spcPct val="104000"/>
              </a:lnSpc>
              <a:buNone/>
            </a:pPr>
            <a:r>
              <a:rPr lang="en-US" sz="650" dirty="0">
                <a:solidFill>
                  <a:srgbClr val="15213F"/>
                </a:solidFill>
                <a:latin typeface="Roboto Slab" pitchFamily="34" charset="0"/>
                <a:ea typeface="Roboto Slab" pitchFamily="34" charset="-122"/>
                <a:cs typeface="Roboto Slab" pitchFamily="34" charset="-120"/>
              </a:rPr>
              <a:t>Cost Reduction</a:t>
            </a:r>
            <a:endParaRPr lang="en-US" sz="650" dirty="0"/>
          </a:p>
        </p:txBody>
      </p:sp>
      <p:sp>
        <p:nvSpPr>
          <p:cNvPr id="16" name="Text 9"/>
          <p:cNvSpPr/>
          <p:nvPr/>
        </p:nvSpPr>
        <p:spPr>
          <a:xfrm>
            <a:off x="4781699" y="3671367"/>
            <a:ext cx="1778124"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Automate manual processes</a:t>
            </a:r>
            <a:endParaRPr lang="en-US" sz="550" dirty="0"/>
          </a:p>
        </p:txBody>
      </p:sp>
      <p:pic>
        <p:nvPicPr>
          <p:cNvPr id="17"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75611" y="3444850"/>
            <a:ext cx="1977033" cy="391939"/>
          </a:xfrm>
          <a:prstGeom prst="rect">
            <a:avLst/>
          </a:prstGeom>
        </p:spPr>
      </p:pic>
      <p:sp>
        <p:nvSpPr>
          <p:cNvPr id="18" name="Text 10"/>
          <p:cNvSpPr/>
          <p:nvPr/>
        </p:nvSpPr>
        <p:spPr>
          <a:xfrm>
            <a:off x="6794078" y="3525217"/>
            <a:ext cx="926976" cy="110728"/>
          </a:xfrm>
          <a:prstGeom prst="rect">
            <a:avLst/>
          </a:prstGeom>
          <a:noFill/>
          <a:ln/>
        </p:spPr>
        <p:txBody>
          <a:bodyPr wrap="none" lIns="0" tIns="0" rIns="0" bIns="0" rtlCol="0" anchor="t"/>
          <a:lstStyle/>
          <a:p>
            <a:pPr algn="l" indent="0" marL="0">
              <a:lnSpc>
                <a:spcPct val="104000"/>
              </a:lnSpc>
              <a:buNone/>
            </a:pPr>
            <a:r>
              <a:rPr lang="en-US" sz="650" dirty="0">
                <a:solidFill>
                  <a:srgbClr val="15213F"/>
                </a:solidFill>
                <a:latin typeface="Roboto Slab" pitchFamily="34" charset="0"/>
                <a:ea typeface="Roboto Slab" pitchFamily="34" charset="-122"/>
                <a:cs typeface="Roboto Slab" pitchFamily="34" charset="-120"/>
              </a:rPr>
              <a:t>Data-Driven Decisions</a:t>
            </a:r>
            <a:endParaRPr lang="en-US" sz="650" dirty="0"/>
          </a:p>
        </p:txBody>
      </p:sp>
      <p:sp>
        <p:nvSpPr>
          <p:cNvPr id="19" name="Text 11"/>
          <p:cNvSpPr/>
          <p:nvPr/>
        </p:nvSpPr>
        <p:spPr>
          <a:xfrm>
            <a:off x="6794078" y="3671367"/>
            <a:ext cx="1778198" cy="85055"/>
          </a:xfrm>
          <a:prstGeom prst="rect">
            <a:avLst/>
          </a:prstGeom>
          <a:noFill/>
          <a:ln/>
        </p:spPr>
        <p:txBody>
          <a:bodyPr wrap="none" lIns="0" tIns="0" rIns="0" bIns="0" rtlCol="0" anchor="t"/>
          <a:lstStyle/>
          <a:p>
            <a:pPr algn="l" indent="0" marL="0">
              <a:lnSpc>
                <a:spcPct val="100000"/>
              </a:lnSpc>
              <a:buNone/>
            </a:pPr>
            <a:r>
              <a:rPr lang="en-US" sz="550" dirty="0">
                <a:solidFill>
                  <a:srgbClr val="15213F"/>
                </a:solidFill>
                <a:latin typeface="Roboto" pitchFamily="34" charset="0"/>
                <a:ea typeface="Roboto" pitchFamily="34" charset="-122"/>
                <a:cs typeface="Roboto" pitchFamily="34" charset="-120"/>
              </a:rPr>
              <a:t>Insights that drive growth</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90036" y="433536"/>
            <a:ext cx="857845" cy="857845"/>
          </a:xfrm>
          <a:prstGeom prst="rect">
            <a:avLst/>
          </a:prstGeom>
        </p:spPr>
      </p:pic>
      <p:sp>
        <p:nvSpPr>
          <p:cNvPr id="3" name="Text 0"/>
          <p:cNvSpPr/>
          <p:nvPr/>
        </p:nvSpPr>
        <p:spPr>
          <a:xfrm>
            <a:off x="496119" y="1484561"/>
            <a:ext cx="3928914" cy="422300"/>
          </a:xfrm>
          <a:prstGeom prst="rect">
            <a:avLst/>
          </a:prstGeom>
          <a:noFill/>
          <a:ln/>
        </p:spPr>
        <p:txBody>
          <a:bodyPr wrap="none" lIns="0" tIns="0" rIns="0" bIns="0" rtlCol="0" anchor="t"/>
          <a:lstStyle/>
          <a:p>
            <a:pPr algn="l" indent="0" marL="0">
              <a:lnSpc>
                <a:spcPct val="104000"/>
              </a:lnSpc>
              <a:buNone/>
            </a:pPr>
            <a:r>
              <a:rPr lang="en-US" sz="2650" dirty="0">
                <a:solidFill>
                  <a:srgbClr val="3257B8"/>
                </a:solidFill>
                <a:latin typeface="Roboto Slab" pitchFamily="34" charset="0"/>
                <a:ea typeface="Roboto Slab" pitchFamily="34" charset="-122"/>
                <a:cs typeface="Roboto Slab" pitchFamily="34" charset="-120"/>
              </a:rPr>
              <a:t>Social Media Strategy</a:t>
            </a:r>
            <a:endParaRPr lang="en-US" sz="2650" dirty="0"/>
          </a:p>
        </p:txBody>
      </p:sp>
      <p:sp>
        <p:nvSpPr>
          <p:cNvPr id="4" name="Text 1"/>
          <p:cNvSpPr/>
          <p:nvPr/>
        </p:nvSpPr>
        <p:spPr>
          <a:xfrm>
            <a:off x="496119" y="2100039"/>
            <a:ext cx="8608963" cy="211113"/>
          </a:xfrm>
          <a:prstGeom prst="rect">
            <a:avLst/>
          </a:prstGeom>
          <a:noFill/>
          <a:ln/>
        </p:spPr>
        <p:txBody>
          <a:bodyPr wrap="none" lIns="0" tIns="0" rIns="0" bIns="0" rtlCol="0" anchor="t"/>
          <a:lstStyle/>
          <a:p>
            <a:pPr algn="l" indent="0" marL="0">
              <a:lnSpc>
                <a:spcPct val="130000"/>
              </a:lnSpc>
              <a:buNone/>
            </a:pPr>
            <a:r>
              <a:rPr lang="en-US" sz="1050" dirty="0">
                <a:solidFill>
                  <a:srgbClr val="15213F"/>
                </a:solidFill>
                <a:latin typeface="Roboto" pitchFamily="34" charset="0"/>
                <a:ea typeface="Roboto" pitchFamily="34" charset="-122"/>
                <a:cs typeface="Roboto" pitchFamily="34" charset="-120"/>
              </a:rPr>
              <a:t>A targeted approach across every major platform.</a:t>
            </a:r>
            <a:endParaRPr lang="en-US" sz="10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119" y="2456036"/>
            <a:ext cx="337765" cy="337765"/>
          </a:xfrm>
          <a:prstGeom prst="rect">
            <a:avLst/>
          </a:prstGeom>
        </p:spPr>
      </p:pic>
      <p:sp>
        <p:nvSpPr>
          <p:cNvPr id="6" name="Text 2"/>
          <p:cNvSpPr/>
          <p:nvPr/>
        </p:nvSpPr>
        <p:spPr>
          <a:xfrm>
            <a:off x="496119" y="2954759"/>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15213F"/>
                </a:solidFill>
                <a:latin typeface="Roboto Slab" pitchFamily="34" charset="0"/>
                <a:ea typeface="Roboto Slab" pitchFamily="34" charset="-122"/>
                <a:cs typeface="Roboto Slab" pitchFamily="34" charset="-120"/>
              </a:rPr>
              <a:t>Facebook</a:t>
            </a:r>
            <a:endParaRPr lang="en-US" sz="1300" dirty="0"/>
          </a:p>
        </p:txBody>
      </p:sp>
      <p:sp>
        <p:nvSpPr>
          <p:cNvPr id="7" name="Text 3"/>
          <p:cNvSpPr/>
          <p:nvPr/>
        </p:nvSpPr>
        <p:spPr>
          <a:xfrm>
            <a:off x="496119" y="3243114"/>
            <a:ext cx="3995365" cy="211113"/>
          </a:xfrm>
          <a:prstGeom prst="rect">
            <a:avLst/>
          </a:prstGeom>
          <a:noFill/>
          <a:ln/>
        </p:spPr>
        <p:txBody>
          <a:bodyPr wrap="none" lIns="0" tIns="0" rIns="0" bIns="0" rtlCol="0" anchor="t"/>
          <a:lstStyle/>
          <a:p>
            <a:pPr algn="l" indent="0" marL="0">
              <a:lnSpc>
                <a:spcPct val="130000"/>
              </a:lnSpc>
              <a:buNone/>
            </a:pPr>
            <a:r>
              <a:rPr lang="en-US" sz="1050" dirty="0">
                <a:solidFill>
                  <a:srgbClr val="15213F"/>
                </a:solidFill>
                <a:latin typeface="Roboto" pitchFamily="34" charset="0"/>
                <a:ea typeface="Roboto" pitchFamily="34" charset="-122"/>
                <a:cs typeface="Roboto" pitchFamily="34" charset="-120"/>
              </a:rPr>
              <a:t>Community building and customer interaction</a:t>
            </a:r>
            <a:endParaRPr lang="en-US" sz="10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52442" y="2456036"/>
            <a:ext cx="337765" cy="337765"/>
          </a:xfrm>
          <a:prstGeom prst="rect">
            <a:avLst/>
          </a:prstGeom>
        </p:spPr>
      </p:pic>
      <p:sp>
        <p:nvSpPr>
          <p:cNvPr id="9" name="Text 4"/>
          <p:cNvSpPr/>
          <p:nvPr/>
        </p:nvSpPr>
        <p:spPr>
          <a:xfrm>
            <a:off x="4652442" y="2954759"/>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15213F"/>
                </a:solidFill>
                <a:latin typeface="Roboto Slab" pitchFamily="34" charset="0"/>
                <a:ea typeface="Roboto Slab" pitchFamily="34" charset="-122"/>
                <a:cs typeface="Roboto Slab" pitchFamily="34" charset="-120"/>
              </a:rPr>
              <a:t>Instagram</a:t>
            </a:r>
            <a:endParaRPr lang="en-US" sz="1300" dirty="0"/>
          </a:p>
        </p:txBody>
      </p:sp>
      <p:sp>
        <p:nvSpPr>
          <p:cNvPr id="10" name="Text 5"/>
          <p:cNvSpPr/>
          <p:nvPr/>
        </p:nvSpPr>
        <p:spPr>
          <a:xfrm>
            <a:off x="4652442" y="3243114"/>
            <a:ext cx="3995440" cy="211113"/>
          </a:xfrm>
          <a:prstGeom prst="rect">
            <a:avLst/>
          </a:prstGeom>
          <a:noFill/>
          <a:ln/>
        </p:spPr>
        <p:txBody>
          <a:bodyPr wrap="none" lIns="0" tIns="0" rIns="0" bIns="0" rtlCol="0" anchor="t"/>
          <a:lstStyle/>
          <a:p>
            <a:pPr algn="l" indent="0" marL="0">
              <a:lnSpc>
                <a:spcPct val="130000"/>
              </a:lnSpc>
              <a:buNone/>
            </a:pPr>
            <a:r>
              <a:rPr lang="en-US" sz="1050" dirty="0">
                <a:solidFill>
                  <a:srgbClr val="15213F"/>
                </a:solidFill>
                <a:latin typeface="Roboto" pitchFamily="34" charset="0"/>
                <a:ea typeface="Roboto" pitchFamily="34" charset="-122"/>
                <a:cs typeface="Roboto" pitchFamily="34" charset="-120"/>
              </a:rPr>
              <a:t>Visual product and project showcase</a:t>
            </a:r>
            <a:endParaRPr lang="en-US" sz="10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6119" y="3711773"/>
            <a:ext cx="337765" cy="337765"/>
          </a:xfrm>
          <a:prstGeom prst="rect">
            <a:avLst/>
          </a:prstGeom>
        </p:spPr>
      </p:pic>
      <p:sp>
        <p:nvSpPr>
          <p:cNvPr id="12" name="Text 6"/>
          <p:cNvSpPr/>
          <p:nvPr/>
        </p:nvSpPr>
        <p:spPr>
          <a:xfrm>
            <a:off x="496119" y="4210496"/>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15213F"/>
                </a:solidFill>
                <a:latin typeface="Roboto Slab" pitchFamily="34" charset="0"/>
                <a:ea typeface="Roboto Slab" pitchFamily="34" charset="-122"/>
                <a:cs typeface="Roboto Slab" pitchFamily="34" charset="-120"/>
              </a:rPr>
              <a:t>LinkedIn</a:t>
            </a:r>
            <a:endParaRPr lang="en-US" sz="1300" dirty="0"/>
          </a:p>
        </p:txBody>
      </p:sp>
      <p:sp>
        <p:nvSpPr>
          <p:cNvPr id="13" name="Text 7"/>
          <p:cNvSpPr/>
          <p:nvPr/>
        </p:nvSpPr>
        <p:spPr>
          <a:xfrm>
            <a:off x="496119" y="4498851"/>
            <a:ext cx="3995365" cy="211113"/>
          </a:xfrm>
          <a:prstGeom prst="rect">
            <a:avLst/>
          </a:prstGeom>
          <a:noFill/>
          <a:ln/>
        </p:spPr>
        <p:txBody>
          <a:bodyPr wrap="none" lIns="0" tIns="0" rIns="0" bIns="0" rtlCol="0" anchor="t"/>
          <a:lstStyle/>
          <a:p>
            <a:pPr algn="l" indent="0" marL="0">
              <a:lnSpc>
                <a:spcPct val="130000"/>
              </a:lnSpc>
              <a:buNone/>
            </a:pPr>
            <a:r>
              <a:rPr lang="en-US" sz="1050" dirty="0">
                <a:solidFill>
                  <a:srgbClr val="15213F"/>
                </a:solidFill>
                <a:latin typeface="Roboto" pitchFamily="34" charset="0"/>
                <a:ea typeface="Roboto" pitchFamily="34" charset="-122"/>
                <a:cs typeface="Roboto" pitchFamily="34" charset="-120"/>
              </a:rPr>
              <a:t>B2B networking and credibility</a:t>
            </a:r>
            <a:endParaRPr lang="en-US" sz="1050" dirty="0"/>
          </a:p>
        </p:txBody>
      </p:sp>
      <p:pic>
        <p:nvPicPr>
          <p:cNvPr id="14"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52442" y="3711773"/>
            <a:ext cx="337765" cy="337765"/>
          </a:xfrm>
          <a:prstGeom prst="rect">
            <a:avLst/>
          </a:prstGeom>
        </p:spPr>
      </p:pic>
      <p:sp>
        <p:nvSpPr>
          <p:cNvPr id="15" name="Text 8"/>
          <p:cNvSpPr/>
          <p:nvPr/>
        </p:nvSpPr>
        <p:spPr>
          <a:xfrm>
            <a:off x="4652442" y="4210496"/>
            <a:ext cx="1688976" cy="211113"/>
          </a:xfrm>
          <a:prstGeom prst="rect">
            <a:avLst/>
          </a:prstGeom>
          <a:noFill/>
          <a:ln/>
        </p:spPr>
        <p:txBody>
          <a:bodyPr wrap="none" lIns="0" tIns="0" rIns="0" bIns="0" rtlCol="0" anchor="t"/>
          <a:lstStyle/>
          <a:p>
            <a:pPr algn="l" indent="0" marL="0">
              <a:lnSpc>
                <a:spcPct val="104000"/>
              </a:lnSpc>
              <a:buNone/>
            </a:pPr>
            <a:r>
              <a:rPr lang="en-US" sz="1300" dirty="0">
                <a:solidFill>
                  <a:srgbClr val="15213F"/>
                </a:solidFill>
                <a:latin typeface="Roboto Slab" pitchFamily="34" charset="0"/>
                <a:ea typeface="Roboto Slab" pitchFamily="34" charset="-122"/>
                <a:cs typeface="Roboto Slab" pitchFamily="34" charset="-120"/>
              </a:rPr>
              <a:t>YouTube</a:t>
            </a:r>
            <a:endParaRPr lang="en-US" sz="1300" dirty="0"/>
          </a:p>
        </p:txBody>
      </p:sp>
      <p:sp>
        <p:nvSpPr>
          <p:cNvPr id="16" name="Text 9"/>
          <p:cNvSpPr/>
          <p:nvPr/>
        </p:nvSpPr>
        <p:spPr>
          <a:xfrm>
            <a:off x="4652442" y="4498851"/>
            <a:ext cx="3995440" cy="211113"/>
          </a:xfrm>
          <a:prstGeom prst="rect">
            <a:avLst/>
          </a:prstGeom>
          <a:noFill/>
          <a:ln/>
        </p:spPr>
        <p:txBody>
          <a:bodyPr wrap="none" lIns="0" tIns="0" rIns="0" bIns="0" rtlCol="0" anchor="t"/>
          <a:lstStyle/>
          <a:p>
            <a:pPr algn="l" indent="0" marL="0">
              <a:lnSpc>
                <a:spcPct val="130000"/>
              </a:lnSpc>
              <a:buNone/>
            </a:pPr>
            <a:r>
              <a:rPr lang="en-US" sz="1050" dirty="0">
                <a:solidFill>
                  <a:srgbClr val="15213F"/>
                </a:solidFill>
                <a:latin typeface="Roboto" pitchFamily="34" charset="0"/>
                <a:ea typeface="Roboto" pitchFamily="34" charset="-122"/>
                <a:cs typeface="Roboto" pitchFamily="34" charset="-120"/>
              </a:rPr>
              <a:t>Product videos and portfolio walkthroughs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67588" y="413221"/>
            <a:ext cx="680293" cy="680293"/>
          </a:xfrm>
          <a:prstGeom prst="rect">
            <a:avLst/>
          </a:prstGeom>
        </p:spPr>
      </p:pic>
      <p:sp>
        <p:nvSpPr>
          <p:cNvPr id="3" name="Text 0"/>
          <p:cNvSpPr/>
          <p:nvPr/>
        </p:nvSpPr>
        <p:spPr>
          <a:xfrm>
            <a:off x="496119" y="1189509"/>
            <a:ext cx="2838450" cy="297656"/>
          </a:xfrm>
          <a:prstGeom prst="rect">
            <a:avLst/>
          </a:prstGeom>
          <a:noFill/>
          <a:ln/>
        </p:spPr>
        <p:txBody>
          <a:bodyPr wrap="none" lIns="0" tIns="0" rIns="0" bIns="0" rtlCol="0" anchor="t"/>
          <a:lstStyle/>
          <a:p>
            <a:pPr algn="l" indent="0" marL="0">
              <a:lnSpc>
                <a:spcPct val="104000"/>
              </a:lnSpc>
              <a:buNone/>
            </a:pPr>
            <a:r>
              <a:rPr lang="en-US" sz="1850" dirty="0">
                <a:solidFill>
                  <a:srgbClr val="3257B8"/>
                </a:solidFill>
                <a:latin typeface="Roboto Slab" pitchFamily="34" charset="0"/>
                <a:ea typeface="Roboto Slab" pitchFamily="34" charset="-122"/>
                <a:cs typeface="Roboto Slab" pitchFamily="34" charset="-120"/>
              </a:rPr>
              <a:t>Why Choose Us?</a:t>
            </a:r>
            <a:endParaRPr lang="en-US" sz="1850" dirty="0"/>
          </a:p>
        </p:txBody>
      </p:sp>
      <p:sp>
        <p:nvSpPr>
          <p:cNvPr id="4" name="Shape 1"/>
          <p:cNvSpPr/>
          <p:nvPr/>
        </p:nvSpPr>
        <p:spPr>
          <a:xfrm>
            <a:off x="496119" y="1583159"/>
            <a:ext cx="2674590" cy="689074"/>
          </a:xfrm>
          <a:prstGeom prst="roundRect">
            <a:avLst>
              <a:gd name="adj" fmla="val 2073"/>
            </a:avLst>
          </a:prstGeom>
          <a:solidFill>
            <a:srgbClr val="E9ECF2"/>
          </a:solidFill>
          <a:ln/>
        </p:spPr>
      </p:sp>
      <p:sp>
        <p:nvSpPr>
          <p:cNvPr id="5" name="Shape 2"/>
          <p:cNvSpPr/>
          <p:nvPr/>
        </p:nvSpPr>
        <p:spPr>
          <a:xfrm>
            <a:off x="591369" y="1678409"/>
            <a:ext cx="285750" cy="285750"/>
          </a:xfrm>
          <a:prstGeom prst="ellipse">
            <a:avLst/>
          </a:prstGeom>
          <a:solidFill>
            <a:srgbClr val="476FD6"/>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9950" y="1756990"/>
            <a:ext cx="128588" cy="128588"/>
          </a:xfrm>
          <a:prstGeom prst="rect">
            <a:avLst/>
          </a:prstGeom>
        </p:spPr>
      </p:pic>
      <p:sp>
        <p:nvSpPr>
          <p:cNvPr id="7" name="Text 3"/>
          <p:cNvSpPr/>
          <p:nvPr/>
        </p:nvSpPr>
        <p:spPr>
          <a:xfrm>
            <a:off x="591369" y="2028155"/>
            <a:ext cx="1205210" cy="148828"/>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End-to-End Solutions</a:t>
            </a:r>
            <a:endParaRPr lang="en-US" sz="900" dirty="0"/>
          </a:p>
        </p:txBody>
      </p:sp>
      <p:sp>
        <p:nvSpPr>
          <p:cNvPr id="8" name="Shape 4"/>
          <p:cNvSpPr/>
          <p:nvPr/>
        </p:nvSpPr>
        <p:spPr>
          <a:xfrm>
            <a:off x="3234705" y="1583159"/>
            <a:ext cx="2674590" cy="689074"/>
          </a:xfrm>
          <a:prstGeom prst="roundRect">
            <a:avLst>
              <a:gd name="adj" fmla="val 2073"/>
            </a:avLst>
          </a:prstGeom>
          <a:solidFill>
            <a:srgbClr val="E9ECF2"/>
          </a:solidFill>
          <a:ln/>
        </p:spPr>
      </p:sp>
      <p:sp>
        <p:nvSpPr>
          <p:cNvPr id="9" name="Shape 5"/>
          <p:cNvSpPr/>
          <p:nvPr/>
        </p:nvSpPr>
        <p:spPr>
          <a:xfrm>
            <a:off x="3329955" y="1678409"/>
            <a:ext cx="285750" cy="285750"/>
          </a:xfrm>
          <a:prstGeom prst="ellipse">
            <a:avLst/>
          </a:prstGeom>
          <a:solidFill>
            <a:srgbClr val="476FD6"/>
          </a:solidFill>
          <a:ln/>
        </p:spPr>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08536" y="1756990"/>
            <a:ext cx="128588" cy="128588"/>
          </a:xfrm>
          <a:prstGeom prst="rect">
            <a:avLst/>
          </a:prstGeom>
        </p:spPr>
      </p:pic>
      <p:sp>
        <p:nvSpPr>
          <p:cNvPr id="11" name="Text 6"/>
          <p:cNvSpPr/>
          <p:nvPr/>
        </p:nvSpPr>
        <p:spPr>
          <a:xfrm>
            <a:off x="3329955" y="2028155"/>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100+ Businesses</a:t>
            </a:r>
            <a:endParaRPr lang="en-US" sz="900" dirty="0"/>
          </a:p>
        </p:txBody>
      </p:sp>
      <p:sp>
        <p:nvSpPr>
          <p:cNvPr id="12" name="Shape 7"/>
          <p:cNvSpPr/>
          <p:nvPr/>
        </p:nvSpPr>
        <p:spPr>
          <a:xfrm>
            <a:off x="5973291" y="1583159"/>
            <a:ext cx="2674590" cy="689074"/>
          </a:xfrm>
          <a:prstGeom prst="roundRect">
            <a:avLst>
              <a:gd name="adj" fmla="val 2073"/>
            </a:avLst>
          </a:prstGeom>
          <a:solidFill>
            <a:srgbClr val="E9ECF2"/>
          </a:solidFill>
          <a:ln/>
        </p:spPr>
      </p:sp>
      <p:sp>
        <p:nvSpPr>
          <p:cNvPr id="13" name="Shape 8"/>
          <p:cNvSpPr/>
          <p:nvPr/>
        </p:nvSpPr>
        <p:spPr>
          <a:xfrm>
            <a:off x="6068541" y="1678409"/>
            <a:ext cx="285750" cy="285750"/>
          </a:xfrm>
          <a:prstGeom prst="ellipse">
            <a:avLst/>
          </a:prstGeom>
          <a:solidFill>
            <a:srgbClr val="476FD6"/>
          </a:solidFill>
          <a:ln/>
        </p:spPr>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47122" y="1756990"/>
            <a:ext cx="128588" cy="128588"/>
          </a:xfrm>
          <a:prstGeom prst="rect">
            <a:avLst/>
          </a:prstGeom>
        </p:spPr>
      </p:pic>
      <p:sp>
        <p:nvSpPr>
          <p:cNvPr id="15" name="Text 9"/>
          <p:cNvSpPr/>
          <p:nvPr/>
        </p:nvSpPr>
        <p:spPr>
          <a:xfrm>
            <a:off x="6068541" y="2028155"/>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Modern Tech Stack</a:t>
            </a:r>
            <a:endParaRPr lang="en-US" sz="900" dirty="0"/>
          </a:p>
        </p:txBody>
      </p:sp>
      <p:sp>
        <p:nvSpPr>
          <p:cNvPr id="16" name="Shape 10"/>
          <p:cNvSpPr/>
          <p:nvPr/>
        </p:nvSpPr>
        <p:spPr>
          <a:xfrm>
            <a:off x="496119" y="2336229"/>
            <a:ext cx="4043883" cy="689074"/>
          </a:xfrm>
          <a:prstGeom prst="roundRect">
            <a:avLst>
              <a:gd name="adj" fmla="val 2073"/>
            </a:avLst>
          </a:prstGeom>
          <a:solidFill>
            <a:srgbClr val="E9ECF2"/>
          </a:solidFill>
          <a:ln/>
        </p:spPr>
      </p:sp>
      <p:sp>
        <p:nvSpPr>
          <p:cNvPr id="17" name="Shape 11"/>
          <p:cNvSpPr/>
          <p:nvPr/>
        </p:nvSpPr>
        <p:spPr>
          <a:xfrm>
            <a:off x="591369" y="2431479"/>
            <a:ext cx="285750" cy="285750"/>
          </a:xfrm>
          <a:prstGeom prst="ellipse">
            <a:avLst/>
          </a:prstGeom>
          <a:solidFill>
            <a:srgbClr val="476FD6"/>
          </a:solidFill>
          <a:ln/>
        </p:spPr>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9950" y="2510061"/>
            <a:ext cx="128588" cy="128588"/>
          </a:xfrm>
          <a:prstGeom prst="rect">
            <a:avLst/>
          </a:prstGeom>
        </p:spPr>
      </p:pic>
      <p:sp>
        <p:nvSpPr>
          <p:cNvPr id="19" name="Text 12"/>
          <p:cNvSpPr/>
          <p:nvPr/>
        </p:nvSpPr>
        <p:spPr>
          <a:xfrm>
            <a:off x="591369" y="2781226"/>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24/7 Support</a:t>
            </a:r>
            <a:endParaRPr lang="en-US" sz="900" dirty="0"/>
          </a:p>
        </p:txBody>
      </p:sp>
      <p:sp>
        <p:nvSpPr>
          <p:cNvPr id="20" name="Shape 13"/>
          <p:cNvSpPr/>
          <p:nvPr/>
        </p:nvSpPr>
        <p:spPr>
          <a:xfrm>
            <a:off x="4603998" y="2336229"/>
            <a:ext cx="4043883" cy="689074"/>
          </a:xfrm>
          <a:prstGeom prst="roundRect">
            <a:avLst>
              <a:gd name="adj" fmla="val 2073"/>
            </a:avLst>
          </a:prstGeom>
          <a:solidFill>
            <a:srgbClr val="E9ECF2"/>
          </a:solidFill>
          <a:ln/>
        </p:spPr>
      </p:sp>
      <p:sp>
        <p:nvSpPr>
          <p:cNvPr id="21" name="Shape 14"/>
          <p:cNvSpPr/>
          <p:nvPr/>
        </p:nvSpPr>
        <p:spPr>
          <a:xfrm>
            <a:off x="4699248" y="2431479"/>
            <a:ext cx="285750" cy="285750"/>
          </a:xfrm>
          <a:prstGeom prst="ellipse">
            <a:avLst/>
          </a:prstGeom>
          <a:solidFill>
            <a:srgbClr val="476FD6"/>
          </a:solidFill>
          <a:ln/>
        </p:spPr>
      </p:sp>
      <p:pic>
        <p:nvPicPr>
          <p:cNvPr id="2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77829" y="2510061"/>
            <a:ext cx="128588" cy="128588"/>
          </a:xfrm>
          <a:prstGeom prst="rect">
            <a:avLst/>
          </a:prstGeom>
        </p:spPr>
      </p:pic>
      <p:sp>
        <p:nvSpPr>
          <p:cNvPr id="23" name="Text 15"/>
          <p:cNvSpPr/>
          <p:nvPr/>
        </p:nvSpPr>
        <p:spPr>
          <a:xfrm>
            <a:off x="4699248" y="2781226"/>
            <a:ext cx="1190625" cy="148828"/>
          </a:xfrm>
          <a:prstGeom prst="rect">
            <a:avLst/>
          </a:prstGeom>
          <a:noFill/>
          <a:ln/>
        </p:spPr>
        <p:txBody>
          <a:bodyPr wrap="none" lIns="0" tIns="0" rIns="0" bIns="0" rtlCol="0" anchor="t"/>
          <a:lstStyle/>
          <a:p>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Transparent Pricing</a:t>
            </a:r>
            <a:endParaRPr lang="en-US" sz="900" dirty="0"/>
          </a:p>
        </p:txBody>
      </p:sp>
      <p:sp>
        <p:nvSpPr>
          <p:cNvPr id="24" name="Shape 16"/>
          <p:cNvSpPr/>
          <p:nvPr/>
        </p:nvSpPr>
        <p:spPr>
          <a:xfrm>
            <a:off x="496119" y="3121075"/>
            <a:ext cx="8151763" cy="14288"/>
          </a:xfrm>
          <a:prstGeom prst="roundRect">
            <a:avLst>
              <a:gd name="adj" fmla="val 59998"/>
            </a:avLst>
          </a:prstGeom>
          <a:solidFill>
            <a:srgbClr val="15213F">
              <a:alpha val="50000"/>
            </a:srgbClr>
          </a:solidFill>
          <a:ln/>
        </p:spPr>
      </p:sp>
      <p:sp>
        <p:nvSpPr>
          <p:cNvPr id="25" name="Text 17"/>
          <p:cNvSpPr/>
          <p:nvPr/>
        </p:nvSpPr>
        <p:spPr>
          <a:xfrm>
            <a:off x="496119" y="3255169"/>
            <a:ext cx="2362200" cy="238125"/>
          </a:xfrm>
          <a:prstGeom prst="rect">
            <a:avLst/>
          </a:prstGeom>
          <a:noFill/>
          <a:ln/>
        </p:spPr>
        <p:txBody>
          <a:bodyPr wrap="none" lIns="0" tIns="0" rIns="0" bIns="0" rtlCol="0" anchor="t"/>
          <a:lstStyle/>
          <a:p>
            <a:pPr algn="l" indent="0" marL="0">
              <a:lnSpc>
                <a:spcPct val="104000"/>
              </a:lnSpc>
              <a:buNone/>
            </a:pPr>
            <a:r>
              <a:rPr lang="en-US" sz="1500" dirty="0">
                <a:solidFill>
                  <a:srgbClr val="3257B8"/>
                </a:solidFill>
                <a:latin typeface="Roboto Slab" pitchFamily="34" charset="0"/>
                <a:ea typeface="Roboto Slab" pitchFamily="34" charset="-122"/>
                <a:cs typeface="Roboto Slab" pitchFamily="34" charset="-120"/>
              </a:rPr>
              <a:t>Let's Talk</a:t>
            </a:r>
            <a:endParaRPr lang="en-US" sz="1500" dirty="0"/>
          </a:p>
        </p:txBody>
      </p:sp>
      <p:sp>
        <p:nvSpPr>
          <p:cNvPr id="26" name="Shape 18"/>
          <p:cNvSpPr/>
          <p:nvPr/>
        </p:nvSpPr>
        <p:spPr>
          <a:xfrm>
            <a:off x="496119" y="3589288"/>
            <a:ext cx="4043883" cy="538460"/>
          </a:xfrm>
          <a:prstGeom prst="roundRect">
            <a:avLst>
              <a:gd name="adj" fmla="val 2653"/>
            </a:avLst>
          </a:prstGeom>
          <a:solidFill>
            <a:srgbClr val="FBFCFE"/>
          </a:solidFill>
          <a:ln w="14288">
            <a:solidFill>
              <a:srgbClr val="CFD2D8"/>
            </a:solidFill>
            <a:prstDash val="solid"/>
          </a:ln>
        </p:spPr>
      </p:sp>
      <p:sp>
        <p:nvSpPr>
          <p:cNvPr id="27" name="Text 19"/>
          <p:cNvSpPr/>
          <p:nvPr/>
        </p:nvSpPr>
        <p:spPr>
          <a:xfrm>
            <a:off x="605656" y="3698825"/>
            <a:ext cx="1190625" cy="1535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 Phone</a:t>
            </a:r>
            <a:endParaRPr lang="en-US" sz="900" dirty="0"/>
          </a:p>
        </p:txBody>
      </p:sp>
      <p:sp>
        <p:nvSpPr>
          <p:cNvPr id="28" name="Text 20"/>
          <p:cNvSpPr/>
          <p:nvPr/>
        </p:nvSpPr>
        <p:spPr>
          <a:xfrm>
            <a:off x="605656" y="3890814"/>
            <a:ext cx="3824808" cy="127397"/>
          </a:xfrm>
          <a:prstGeom prst="rect">
            <a:avLst/>
          </a:prstGeom>
          <a:noFill/>
          <a:ln/>
        </p:spPr>
        <p:txBody>
          <a:bodyPr wrap="none" lIns="0" tIns="0" rIns="0" bIns="0" rtlCol="0" anchor="t"/>
          <a:lstStyle/>
          <a:p>
            <a:pPr algn="l" indent="0" marL="0">
              <a:lnSpc>
                <a:spcPct val="111000"/>
              </a:lnSpc>
              <a:buNone/>
            </a:pPr>
            <a:r>
              <a:rPr lang="en-US" sz="750" dirty="0">
                <a:solidFill>
                  <a:srgbClr val="15213F"/>
                </a:solidFill>
                <a:latin typeface="Roboto" pitchFamily="34" charset="0"/>
                <a:ea typeface="Roboto" pitchFamily="34" charset="-122"/>
                <a:cs typeface="Roboto" pitchFamily="34" charset="-120"/>
              </a:rPr>
              <a:t>+91-XXXXXXXXXX</a:t>
            </a:r>
            <a:endParaRPr lang="en-US" sz="750" dirty="0"/>
          </a:p>
        </p:txBody>
      </p:sp>
      <p:sp>
        <p:nvSpPr>
          <p:cNvPr id="29" name="Shape 21"/>
          <p:cNvSpPr/>
          <p:nvPr/>
        </p:nvSpPr>
        <p:spPr>
          <a:xfrm>
            <a:off x="4603998" y="3589288"/>
            <a:ext cx="4043883" cy="538460"/>
          </a:xfrm>
          <a:prstGeom prst="roundRect">
            <a:avLst>
              <a:gd name="adj" fmla="val 2653"/>
            </a:avLst>
          </a:prstGeom>
          <a:solidFill>
            <a:srgbClr val="FBFCFE"/>
          </a:solidFill>
          <a:ln w="14288">
            <a:solidFill>
              <a:srgbClr val="CFD2D8"/>
            </a:solidFill>
            <a:prstDash val="solid"/>
          </a:ln>
        </p:spPr>
      </p:sp>
      <p:sp>
        <p:nvSpPr>
          <p:cNvPr id="30" name="Text 22"/>
          <p:cNvSpPr/>
          <p:nvPr/>
        </p:nvSpPr>
        <p:spPr>
          <a:xfrm>
            <a:off x="4713536" y="3698825"/>
            <a:ext cx="1190625" cy="1535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 Email</a:t>
            </a:r>
            <a:endParaRPr lang="en-US" sz="900" dirty="0"/>
          </a:p>
        </p:txBody>
      </p:sp>
      <p:sp>
        <p:nvSpPr>
          <p:cNvPr id="31" name="Text 23"/>
          <p:cNvSpPr/>
          <p:nvPr/>
        </p:nvSpPr>
        <p:spPr>
          <a:xfrm>
            <a:off x="4713536" y="3890814"/>
            <a:ext cx="3824808" cy="127397"/>
          </a:xfrm>
          <a:prstGeom prst="rect">
            <a:avLst/>
          </a:prstGeom>
          <a:noFill/>
          <a:ln/>
        </p:spPr>
        <p:txBody>
          <a:bodyPr wrap="none" lIns="0" tIns="0" rIns="0" bIns="0" rtlCol="0" anchor="t"/>
          <a:lstStyle/>
          <a:p>
            <a:pPr algn="l" indent="0" marL="0">
              <a:lnSpc>
                <a:spcPct val="111000"/>
              </a:lnSpc>
              <a:buNone/>
            </a:pPr>
            <a:r>
              <a:rPr lang="en-US" sz="750" dirty="0">
                <a:solidFill>
                  <a:srgbClr val="15213F"/>
                </a:solidFill>
                <a:latin typeface="Roboto" pitchFamily="34" charset="0"/>
                <a:ea typeface="Roboto" pitchFamily="34" charset="-122"/>
                <a:cs typeface="Roboto" pitchFamily="34" charset="-120"/>
              </a:rPr>
              <a:t>info@companyname.com</a:t>
            </a:r>
            <a:endParaRPr lang="en-US" sz="750" dirty="0"/>
          </a:p>
        </p:txBody>
      </p:sp>
      <p:sp>
        <p:nvSpPr>
          <p:cNvPr id="32" name="Shape 24"/>
          <p:cNvSpPr/>
          <p:nvPr/>
        </p:nvSpPr>
        <p:spPr>
          <a:xfrm>
            <a:off x="496119" y="4191744"/>
            <a:ext cx="4043883" cy="538460"/>
          </a:xfrm>
          <a:prstGeom prst="roundRect">
            <a:avLst>
              <a:gd name="adj" fmla="val 2653"/>
            </a:avLst>
          </a:prstGeom>
          <a:solidFill>
            <a:srgbClr val="FBFCFE"/>
          </a:solidFill>
          <a:ln w="14288">
            <a:solidFill>
              <a:srgbClr val="CFD2D8"/>
            </a:solidFill>
            <a:prstDash val="solid"/>
          </a:ln>
        </p:spPr>
      </p:sp>
      <p:sp>
        <p:nvSpPr>
          <p:cNvPr id="33" name="Text 25"/>
          <p:cNvSpPr/>
          <p:nvPr/>
        </p:nvSpPr>
        <p:spPr>
          <a:xfrm>
            <a:off x="605656" y="4301282"/>
            <a:ext cx="1190625" cy="1535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 Website</a:t>
            </a:r>
            <a:endParaRPr lang="en-US" sz="900" dirty="0"/>
          </a:p>
        </p:txBody>
      </p:sp>
      <p:sp>
        <p:nvSpPr>
          <p:cNvPr id="34" name="Text 26"/>
          <p:cNvSpPr/>
          <p:nvPr/>
        </p:nvSpPr>
        <p:spPr>
          <a:xfrm>
            <a:off x="605656" y="4493270"/>
            <a:ext cx="3824808" cy="127397"/>
          </a:xfrm>
          <a:prstGeom prst="rect">
            <a:avLst/>
          </a:prstGeom>
          <a:noFill/>
          <a:ln/>
        </p:spPr>
        <p:txBody>
          <a:bodyPr wrap="none" lIns="0" tIns="0" rIns="0" bIns="0" rtlCol="0" anchor="t"/>
          <a:lstStyle/>
          <a:p>
            <a:pPr algn="l" indent="0" marL="0">
              <a:lnSpc>
                <a:spcPct val="111000"/>
              </a:lnSpc>
              <a:buNone/>
            </a:pPr>
            <a:r>
              <a:rPr lang="en-US" sz="750" dirty="0">
                <a:solidFill>
                  <a:srgbClr val="15213F"/>
                </a:solidFill>
                <a:latin typeface="Roboto" pitchFamily="34" charset="0"/>
                <a:ea typeface="Roboto" pitchFamily="34" charset="-122"/>
                <a:cs typeface="Roboto" pitchFamily="34" charset="-120"/>
              </a:rPr>
              <a:t>www.companyname.com</a:t>
            </a:r>
            <a:endParaRPr lang="en-US" sz="750" dirty="0"/>
          </a:p>
        </p:txBody>
      </p:sp>
      <p:sp>
        <p:nvSpPr>
          <p:cNvPr id="35" name="Shape 27"/>
          <p:cNvSpPr/>
          <p:nvPr/>
        </p:nvSpPr>
        <p:spPr>
          <a:xfrm>
            <a:off x="4603998" y="4191744"/>
            <a:ext cx="4043883" cy="538460"/>
          </a:xfrm>
          <a:prstGeom prst="roundRect">
            <a:avLst>
              <a:gd name="adj" fmla="val 2653"/>
            </a:avLst>
          </a:prstGeom>
          <a:solidFill>
            <a:srgbClr val="FBFCFE"/>
          </a:solidFill>
          <a:ln w="14288">
            <a:solidFill>
              <a:srgbClr val="CFD2D8"/>
            </a:solidFill>
            <a:prstDash val="solid"/>
          </a:ln>
        </p:spPr>
      </p:sp>
      <p:sp>
        <p:nvSpPr>
          <p:cNvPr id="36" name="Text 28"/>
          <p:cNvSpPr/>
          <p:nvPr/>
        </p:nvSpPr>
        <p:spPr>
          <a:xfrm>
            <a:off x="4713536" y="4301282"/>
            <a:ext cx="1190625" cy="153591"/>
          </a:xfrm>
          <a:prstGeom prst="rect">
            <a:avLst/>
          </a:prstGeom>
          <a:noFill/>
          <a:ln/>
        </p:spPr>
        <p:txBody>
          <a:bodyPr wrap="none" lIns="0" tIns="0" rIns="0" bIns="0" rtlCol="0" anchor="t"/>
          <a:lstStyle/>
          <a:p>
            <a:pPr algn="l" indent="0" marL="0">
              <a:lnSpc>
                <a:spcPct val="104000"/>
              </a:lnSpc>
              <a:buNone/>
            </a:pPr>
            <a:r>
              <a:rPr lang="en-US" sz="9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900" dirty="0">
                <a:solidFill>
                  <a:srgbClr val="15213F"/>
                </a:solidFill>
                <a:latin typeface="Roboto Slab" pitchFamily="34" charset="0"/>
                <a:ea typeface="Roboto Slab" pitchFamily="34" charset="-122"/>
                <a:cs typeface="Roboto Slab" pitchFamily="34" charset="-120"/>
              </a:rPr>
              <a:t> Address</a:t>
            </a:r>
            <a:endParaRPr lang="en-US" sz="900" dirty="0"/>
          </a:p>
        </p:txBody>
      </p:sp>
      <p:sp>
        <p:nvSpPr>
          <p:cNvPr id="37" name="Text 29"/>
          <p:cNvSpPr/>
          <p:nvPr/>
        </p:nvSpPr>
        <p:spPr>
          <a:xfrm>
            <a:off x="4713536" y="4493270"/>
            <a:ext cx="3824808" cy="127397"/>
          </a:xfrm>
          <a:prstGeom prst="rect">
            <a:avLst/>
          </a:prstGeom>
          <a:noFill/>
          <a:ln/>
        </p:spPr>
        <p:txBody>
          <a:bodyPr wrap="none" lIns="0" tIns="0" rIns="0" bIns="0" rtlCol="0" anchor="t"/>
          <a:lstStyle/>
          <a:p>
            <a:pPr algn="l" indent="0" marL="0">
              <a:lnSpc>
                <a:spcPct val="111000"/>
              </a:lnSpc>
              <a:buNone/>
            </a:pPr>
            <a:r>
              <a:rPr lang="en-US" sz="750" dirty="0">
                <a:solidFill>
                  <a:srgbClr val="15213F"/>
                </a:solidFill>
                <a:latin typeface="Roboto" pitchFamily="34" charset="0"/>
                <a:ea typeface="Roboto" pitchFamily="34" charset="-122"/>
                <a:cs typeface="Roboto" pitchFamily="34" charset="-120"/>
              </a:rPr>
              <a:t>Your Office Address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16198"/>
            <a:ext cx="576858" cy="266402"/>
          </a:xfrm>
          <a:prstGeom prst="roundRect">
            <a:avLst>
              <a:gd name="adj" fmla="val 6386"/>
            </a:avLst>
          </a:prstGeom>
          <a:noFill/>
          <a:ln/>
          <a:effectLst>
            <a:outerShdw sx="100000" sy="100000" kx="0" ky="0" algn="bl" rotWithShape="0" blurRad="101600" dist="50800" dir="16200000">
              <a:srgbClr val="3257b8">
                <a:alpha val="100000"/>
              </a:srgbClr>
            </a:outerShdw>
          </a:effectLst>
        </p:spPr>
      </p:sp>
      <p:sp>
        <p:nvSpPr>
          <p:cNvPr id="3" name="Text 1"/>
          <p:cNvSpPr/>
          <p:nvPr/>
        </p:nvSpPr>
        <p:spPr>
          <a:xfrm>
            <a:off x="581174" y="458688"/>
            <a:ext cx="863947" cy="181421"/>
          </a:xfrm>
          <a:prstGeom prst="rect">
            <a:avLst/>
          </a:prstGeom>
          <a:noFill/>
          <a:ln/>
        </p:spPr>
        <p:txBody>
          <a:bodyPr wrap="none" lIns="0" tIns="0" rIns="0" bIns="0" rtlCol="0" anchor="t"/>
          <a:lstStyle/>
          <a:p>
            <a:pPr algn="l" indent="0" marL="0">
              <a:lnSpc>
                <a:spcPct val="133000"/>
              </a:lnSpc>
              <a:buNone/>
            </a:pPr>
            <a:r>
              <a:rPr lang="en-US" sz="850" dirty="0">
                <a:solidFill>
                  <a:srgbClr val="3257B8"/>
                </a:solidFill>
                <a:latin typeface="Roboto" pitchFamily="34" charset="0"/>
                <a:ea typeface="Roboto" pitchFamily="34" charset="-122"/>
                <a:cs typeface="Roboto" pitchFamily="34" charset="-120"/>
              </a:rPr>
              <a:t>IMPACT</a:t>
            </a:r>
            <a:endParaRPr lang="en-US" sz="850" dirty="0"/>
          </a:p>
        </p:txBody>
      </p:sp>
      <p:sp>
        <p:nvSpPr>
          <p:cNvPr id="4" name="Text 2"/>
          <p:cNvSpPr/>
          <p:nvPr/>
        </p:nvSpPr>
        <p:spPr>
          <a:xfrm>
            <a:off x="1248594" y="983828"/>
            <a:ext cx="5372100" cy="442987"/>
          </a:xfrm>
          <a:prstGeom prst="rect">
            <a:avLst/>
          </a:prstGeom>
          <a:noFill/>
          <a:ln/>
        </p:spPr>
        <p:txBody>
          <a:bodyPr wrap="none" lIns="0" tIns="0" rIns="0" bIns="0" rtlCol="0" anchor="t"/>
          <a:lstStyle/>
          <a:p>
            <a:pPr algn="ctr" indent="0" marL="0">
              <a:lnSpc>
                <a:spcPct val="104000"/>
              </a:lnSpc>
              <a:buNone/>
            </a:pPr>
            <a:r>
              <a:rPr lang="en-US" sz="2750" dirty="0">
                <a:solidFill>
                  <a:srgbClr val="3257B8"/>
                </a:solidFill>
                <a:latin typeface="Roboto Slab" pitchFamily="34" charset="0"/>
                <a:ea typeface="Roboto Slab" pitchFamily="34" charset="-122"/>
                <a:cs typeface="Roboto Slab" pitchFamily="34" charset="-120"/>
              </a:rPr>
              <a:t>Measuring Our Success &amp; ROI</a:t>
            </a:r>
            <a:endParaRPr lang="en-US" sz="2750" dirty="0"/>
          </a:p>
        </p:txBody>
      </p:sp>
      <p:pic>
        <p:nvPicPr>
          <p:cNvPr id="5" name="Image 0" descr="preencoded.png">    </p:cNvPr>
          <p:cNvPicPr>
            <a:picLocks noChangeAspect="1"/>
          </p:cNvPicPr>
          <p:nvPr/>
        </p:nvPicPr>
        <p:blipFill>
          <a:blip r:embed="rId1"/>
          <a:stretch>
            <a:fillRect/>
          </a:stretch>
        </p:blipFill>
        <p:spPr>
          <a:xfrm>
            <a:off x="8027566" y="1001539"/>
            <a:ext cx="625004" cy="625004"/>
          </a:xfrm>
          <a:prstGeom prst="rect">
            <a:avLst/>
          </a:prstGeom>
        </p:spPr>
      </p:pic>
      <p:sp>
        <p:nvSpPr>
          <p:cNvPr id="6" name="Text 3"/>
          <p:cNvSpPr/>
          <p:nvPr/>
        </p:nvSpPr>
        <p:spPr>
          <a:xfrm>
            <a:off x="496119" y="1945481"/>
            <a:ext cx="8151763" cy="453628"/>
          </a:xfrm>
          <a:prstGeom prst="rect">
            <a:avLst/>
          </a:prstGeom>
          <a:noFill/>
          <a:ln/>
        </p:spPr>
        <p:txBody>
          <a:bodyPr wrap="square" lIns="0" tIns="0" rIns="0" bIns="0" rtlCol="0" anchor="t">
            <a:normAutofit/>
          </a:bodyPr>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Our digital transformation initiatives are designed to deliver measurable results, ensuring a strong return on investment across key business areas.</a:t>
            </a:r>
            <a:endParaRPr lang="en-US" sz="1100" dirty="0"/>
          </a:p>
        </p:txBody>
      </p:sp>
      <p:sp>
        <p:nvSpPr>
          <p:cNvPr id="7" name="Text 4"/>
          <p:cNvSpPr/>
          <p:nvPr/>
        </p:nvSpPr>
        <p:spPr>
          <a:xfrm>
            <a:off x="496119" y="2629421"/>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15213F"/>
                </a:solidFill>
                <a:latin typeface="Roboto Slab" pitchFamily="34" charset="0"/>
                <a:ea typeface="Roboto Slab" pitchFamily="34" charset="-122"/>
                <a:cs typeface="Roboto Slab" pitchFamily="34" charset="-120"/>
              </a:rPr>
              <a:t>30%</a:t>
            </a:r>
            <a:endParaRPr lang="en-US" sz="3650" dirty="0"/>
          </a:p>
        </p:txBody>
      </p:sp>
      <p:sp>
        <p:nvSpPr>
          <p:cNvPr id="8" name="Text 5"/>
          <p:cNvSpPr/>
          <p:nvPr/>
        </p:nvSpPr>
        <p:spPr>
          <a:xfrm>
            <a:off x="496119" y="3274368"/>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Increase in Customer Engagement</a:t>
            </a:r>
            <a:endParaRPr lang="en-US" sz="1100" dirty="0"/>
          </a:p>
        </p:txBody>
      </p:sp>
      <p:sp>
        <p:nvSpPr>
          <p:cNvPr id="9" name="Text 6"/>
          <p:cNvSpPr/>
          <p:nvPr/>
        </p:nvSpPr>
        <p:spPr>
          <a:xfrm>
            <a:off x="4660553" y="2629421"/>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15213F"/>
                </a:solidFill>
                <a:latin typeface="Roboto Slab" pitchFamily="34" charset="0"/>
                <a:ea typeface="Roboto Slab" pitchFamily="34" charset="-122"/>
                <a:cs typeface="Roboto Slab" pitchFamily="34" charset="-120"/>
              </a:rPr>
              <a:t>40%</a:t>
            </a:r>
            <a:endParaRPr lang="en-US" sz="3650" dirty="0"/>
          </a:p>
        </p:txBody>
      </p:sp>
      <p:sp>
        <p:nvSpPr>
          <p:cNvPr id="10" name="Text 7"/>
          <p:cNvSpPr/>
          <p:nvPr/>
        </p:nvSpPr>
        <p:spPr>
          <a:xfrm>
            <a:off x="4660553" y="3274368"/>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Reduction in Manual Process Time</a:t>
            </a:r>
            <a:endParaRPr lang="en-US" sz="1100" dirty="0"/>
          </a:p>
        </p:txBody>
      </p:sp>
      <p:sp>
        <p:nvSpPr>
          <p:cNvPr id="11" name="Text 8"/>
          <p:cNvSpPr/>
          <p:nvPr/>
        </p:nvSpPr>
        <p:spPr>
          <a:xfrm>
            <a:off x="496119" y="3855541"/>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15213F"/>
                </a:solidFill>
                <a:latin typeface="Roboto Slab" pitchFamily="34" charset="0"/>
                <a:ea typeface="Roboto Slab" pitchFamily="34" charset="-122"/>
                <a:cs typeface="Roboto Slab" pitchFamily="34" charset="-120"/>
              </a:rPr>
              <a:t>25%</a:t>
            </a:r>
            <a:endParaRPr lang="en-US" sz="3650" dirty="0"/>
          </a:p>
        </p:txBody>
      </p:sp>
      <p:sp>
        <p:nvSpPr>
          <p:cNvPr id="12" name="Text 9"/>
          <p:cNvSpPr/>
          <p:nvPr/>
        </p:nvSpPr>
        <p:spPr>
          <a:xfrm>
            <a:off x="496119" y="4500488"/>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Projected Revenue Growth (Year 1)</a:t>
            </a:r>
            <a:endParaRPr lang="en-US" sz="1100" dirty="0"/>
          </a:p>
        </p:txBody>
      </p:sp>
      <p:sp>
        <p:nvSpPr>
          <p:cNvPr id="13" name="Text 10"/>
          <p:cNvSpPr/>
          <p:nvPr/>
        </p:nvSpPr>
        <p:spPr>
          <a:xfrm>
            <a:off x="4660553" y="3855541"/>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15213F"/>
                </a:solidFill>
                <a:latin typeface="Roboto Slab" pitchFamily="34" charset="0"/>
                <a:ea typeface="Roboto Slab" pitchFamily="34" charset="-122"/>
                <a:cs typeface="Roboto Slab" pitchFamily="34" charset="-120"/>
              </a:rPr>
              <a:t>15%</a:t>
            </a:r>
            <a:endParaRPr lang="en-US" sz="3650" dirty="0"/>
          </a:p>
        </p:txBody>
      </p:sp>
      <p:sp>
        <p:nvSpPr>
          <p:cNvPr id="14" name="Text 11"/>
          <p:cNvSpPr/>
          <p:nvPr/>
        </p:nvSpPr>
        <p:spPr>
          <a:xfrm>
            <a:off x="4660553" y="4500488"/>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15213F"/>
                </a:solidFill>
                <a:latin typeface="Roboto" pitchFamily="34" charset="0"/>
                <a:ea typeface="Roboto" pitchFamily="34" charset="-122"/>
                <a:cs typeface="Roboto" pitchFamily="34" charset="-120"/>
              </a:rPr>
              <a:t>Operational Cost Savings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528489"/>
            <a:ext cx="654844" cy="239018"/>
          </a:xfrm>
          <a:prstGeom prst="roundRect">
            <a:avLst>
              <a:gd name="adj" fmla="val 6561"/>
            </a:avLst>
          </a:prstGeom>
          <a:noFill/>
          <a:ln/>
          <a:effectLst>
            <a:outerShdw sx="100000" sy="100000" kx="0" ky="0" algn="bl" rotWithShape="0" blurRad="101600" dist="50800" dir="16200000">
              <a:srgbClr val="3257b8">
                <a:alpha val="100000"/>
              </a:srgbClr>
            </a:outerShdw>
          </a:effectLst>
        </p:spPr>
      </p:sp>
      <p:sp>
        <p:nvSpPr>
          <p:cNvPr id="3" name="Text 1"/>
          <p:cNvSpPr/>
          <p:nvPr/>
        </p:nvSpPr>
        <p:spPr>
          <a:xfrm>
            <a:off x="574477" y="567630"/>
            <a:ext cx="955328" cy="160734"/>
          </a:xfrm>
          <a:prstGeom prst="rect">
            <a:avLst/>
          </a:prstGeom>
          <a:noFill/>
          <a:ln/>
        </p:spPr>
        <p:txBody>
          <a:bodyPr wrap="none" lIns="0" tIns="0" rIns="0" bIns="0" rtlCol="0" anchor="t"/>
          <a:lstStyle/>
          <a:p>
            <a:pPr algn="l" indent="0" marL="0">
              <a:lnSpc>
                <a:spcPct val="128000"/>
              </a:lnSpc>
              <a:buNone/>
            </a:pPr>
            <a:r>
              <a:rPr lang="en-US" sz="800" dirty="0">
                <a:solidFill>
                  <a:srgbClr val="3257B8"/>
                </a:solidFill>
                <a:latin typeface="Roboto" pitchFamily="34" charset="0"/>
                <a:ea typeface="Roboto" pitchFamily="34" charset="-122"/>
                <a:cs typeface="Roboto" pitchFamily="34" charset="-120"/>
              </a:rPr>
              <a:t>ROADMAP</a:t>
            </a:r>
            <a:endParaRPr lang="en-US" sz="800" dirty="0"/>
          </a:p>
        </p:txBody>
      </p:sp>
      <p:sp>
        <p:nvSpPr>
          <p:cNvPr id="4" name="Text 2"/>
          <p:cNvSpPr/>
          <p:nvPr/>
        </p:nvSpPr>
        <p:spPr>
          <a:xfrm>
            <a:off x="496119" y="815653"/>
            <a:ext cx="6242521" cy="408384"/>
          </a:xfrm>
          <a:prstGeom prst="rect">
            <a:avLst/>
          </a:prstGeom>
          <a:noFill/>
          <a:ln/>
        </p:spPr>
        <p:txBody>
          <a:bodyPr wrap="none" lIns="0" tIns="0" rIns="0" bIns="0" rtlCol="0" anchor="t"/>
          <a:lstStyle/>
          <a:p>
            <a:pPr algn="l" indent="0" marL="0">
              <a:lnSpc>
                <a:spcPct val="104000"/>
              </a:lnSpc>
              <a:buNone/>
            </a:pPr>
            <a:r>
              <a:rPr lang="en-US" sz="2550" dirty="0">
                <a:solidFill>
                  <a:srgbClr val="3257B8"/>
                </a:solidFill>
                <a:latin typeface="Roboto Slab" pitchFamily="34" charset="0"/>
                <a:ea typeface="Roboto Slab" pitchFamily="34" charset="-122"/>
                <a:cs typeface="Roboto Slab" pitchFamily="34" charset="-120"/>
              </a:rPr>
              <a:t>Implementation Timeline &amp; Roadmap</a:t>
            </a:r>
            <a:endParaRPr lang="en-US" sz="2550" dirty="0"/>
          </a:p>
        </p:txBody>
      </p:sp>
      <p:pic>
        <p:nvPicPr>
          <p:cNvPr id="5" name="Image 0" descr="preencoded.png">    </p:cNvPr>
          <p:cNvPicPr>
            <a:picLocks noChangeAspect="1"/>
          </p:cNvPicPr>
          <p:nvPr/>
        </p:nvPicPr>
        <p:blipFill>
          <a:blip r:embed="rId1"/>
          <a:stretch>
            <a:fillRect/>
          </a:stretch>
        </p:blipFill>
        <p:spPr>
          <a:xfrm>
            <a:off x="7700814" y="528489"/>
            <a:ext cx="951756" cy="951756"/>
          </a:xfrm>
          <a:prstGeom prst="rect">
            <a:avLst/>
          </a:prstGeom>
        </p:spPr>
      </p:pic>
      <p:sp>
        <p:nvSpPr>
          <p:cNvPr id="6" name="Text 3"/>
          <p:cNvSpPr/>
          <p:nvPr/>
        </p:nvSpPr>
        <p:spPr>
          <a:xfrm>
            <a:off x="496119" y="1751261"/>
            <a:ext cx="8608963" cy="200844"/>
          </a:xfrm>
          <a:prstGeom prst="rect">
            <a:avLst/>
          </a:prstGeom>
          <a:noFill/>
          <a:ln/>
        </p:spPr>
        <p:txBody>
          <a:bodyPr wrap="none" lIns="0" tIns="0" rIns="0" bIns="0" rtlCol="0" anchor="t"/>
          <a:lstStyle/>
          <a:p>
            <a:pPr algn="l" indent="0" marL="0">
              <a:lnSpc>
                <a:spcPct val="128000"/>
              </a:lnSpc>
              <a:buNone/>
            </a:pPr>
            <a:r>
              <a:rPr lang="en-US" sz="1000" dirty="0">
                <a:solidFill>
                  <a:srgbClr val="15213F"/>
                </a:solidFill>
                <a:latin typeface="Roboto" pitchFamily="34" charset="0"/>
                <a:ea typeface="Roboto" pitchFamily="34" charset="-122"/>
                <a:cs typeface="Roboto" pitchFamily="34" charset="-120"/>
              </a:rPr>
              <a:t>Our structured approach ensures timely delivery and seamless integration of all digital solutions.</a:t>
            </a:r>
            <a:endParaRPr lang="en-US" sz="1000" dirty="0"/>
          </a:p>
        </p:txBody>
      </p:sp>
      <p:sp>
        <p:nvSpPr>
          <p:cNvPr id="7" name="Shape 4"/>
          <p:cNvSpPr/>
          <p:nvPr/>
        </p:nvSpPr>
        <p:spPr>
          <a:xfrm>
            <a:off x="496119" y="3419029"/>
            <a:ext cx="8151763" cy="14288"/>
          </a:xfrm>
          <a:prstGeom prst="roundRect">
            <a:avLst>
              <a:gd name="adj" fmla="val 137204"/>
            </a:avLst>
          </a:prstGeom>
          <a:solidFill>
            <a:srgbClr val="CFD2D8"/>
          </a:solidFill>
          <a:ln/>
        </p:spPr>
      </p:sp>
      <p:sp>
        <p:nvSpPr>
          <p:cNvPr id="8" name="Shape 5"/>
          <p:cNvSpPr/>
          <p:nvPr/>
        </p:nvSpPr>
        <p:spPr>
          <a:xfrm>
            <a:off x="2074143" y="3027015"/>
            <a:ext cx="14288" cy="392013"/>
          </a:xfrm>
          <a:prstGeom prst="roundRect">
            <a:avLst>
              <a:gd name="adj" fmla="val 137204"/>
            </a:avLst>
          </a:prstGeom>
          <a:solidFill>
            <a:srgbClr val="CFD2D8"/>
          </a:solidFill>
          <a:ln/>
        </p:spPr>
      </p:sp>
      <p:sp>
        <p:nvSpPr>
          <p:cNvPr id="9" name="Shape 6"/>
          <p:cNvSpPr/>
          <p:nvPr/>
        </p:nvSpPr>
        <p:spPr>
          <a:xfrm>
            <a:off x="2032285" y="3370027"/>
            <a:ext cx="98003" cy="98003"/>
          </a:xfrm>
          <a:prstGeom prst="ellipse">
            <a:avLst/>
          </a:prstGeom>
          <a:solidFill>
            <a:srgbClr val="476FD6"/>
          </a:solidFill>
          <a:ln/>
        </p:spPr>
      </p:sp>
      <p:sp>
        <p:nvSpPr>
          <p:cNvPr id="10" name="Shape 7"/>
          <p:cNvSpPr/>
          <p:nvPr/>
        </p:nvSpPr>
        <p:spPr>
          <a:xfrm>
            <a:off x="496119" y="2087612"/>
            <a:ext cx="3170337" cy="939403"/>
          </a:xfrm>
          <a:prstGeom prst="roundRect">
            <a:avLst>
              <a:gd name="adj" fmla="val 2087"/>
            </a:avLst>
          </a:prstGeom>
          <a:solidFill>
            <a:srgbClr val="E9ECF2"/>
          </a:solidFill>
          <a:ln/>
        </p:spPr>
      </p:sp>
      <p:sp>
        <p:nvSpPr>
          <p:cNvPr id="11" name="Text 8"/>
          <p:cNvSpPr/>
          <p:nvPr/>
        </p:nvSpPr>
        <p:spPr>
          <a:xfrm>
            <a:off x="1254472" y="2218283"/>
            <a:ext cx="1653555" cy="204118"/>
          </a:xfrm>
          <a:prstGeom prst="rect">
            <a:avLst/>
          </a:prstGeom>
          <a:noFill/>
          <a:ln/>
        </p:spPr>
        <p:txBody>
          <a:bodyPr wrap="none" lIns="0" tIns="0" rIns="0" bIns="0" rtlCol="0" anchor="t"/>
          <a:lstStyle/>
          <a:p>
            <a:pPr algn="ctr" indent="0" marL="0">
              <a:lnSpc>
                <a:spcPct val="104000"/>
              </a:lnSpc>
              <a:buNone/>
            </a:pPr>
            <a:r>
              <a:rPr lang="en-US" sz="1250" dirty="0">
                <a:solidFill>
                  <a:srgbClr val="15213F"/>
                </a:solidFill>
                <a:latin typeface="Roboto Slab" pitchFamily="34" charset="0"/>
                <a:ea typeface="Roboto Slab" pitchFamily="34" charset="-122"/>
                <a:cs typeface="Roboto Slab" pitchFamily="34" charset="-120"/>
              </a:rPr>
              <a:t>Discovery &amp; Planning</a:t>
            </a:r>
            <a:endParaRPr lang="en-US" sz="1250" dirty="0"/>
          </a:p>
        </p:txBody>
      </p:sp>
      <p:sp>
        <p:nvSpPr>
          <p:cNvPr id="12" name="Text 9"/>
          <p:cNvSpPr/>
          <p:nvPr/>
        </p:nvSpPr>
        <p:spPr>
          <a:xfrm>
            <a:off x="626790" y="2494657"/>
            <a:ext cx="2908995" cy="401687"/>
          </a:xfrm>
          <a:prstGeom prst="rect">
            <a:avLst/>
          </a:prstGeom>
          <a:noFill/>
          <a:ln/>
        </p:spPr>
        <p:txBody>
          <a:bodyPr wrap="square" lIns="0" tIns="0" rIns="0" bIns="0" rtlCol="0" anchor="t">
            <a:normAutofit/>
          </a:bodyPr>
          <a:lstStyle/>
          <a:p>
            <a:pPr algn="ctr" indent="0" marL="0">
              <a:lnSpc>
                <a:spcPct val="128000"/>
              </a:lnSpc>
              <a:buNone/>
            </a:pPr>
            <a:r>
              <a:rPr lang="en-US" sz="1000" dirty="0">
                <a:solidFill>
                  <a:srgbClr val="15213F"/>
                </a:solidFill>
                <a:latin typeface="Roboto" pitchFamily="34" charset="0"/>
                <a:ea typeface="Roboto" pitchFamily="34" charset="-122"/>
                <a:cs typeface="Roboto" pitchFamily="34" charset="-120"/>
              </a:rPr>
              <a:t>In-depth analysis of current systems and strategic goal alignment.</a:t>
            </a:r>
            <a:endParaRPr lang="en-US" sz="1000" dirty="0"/>
          </a:p>
        </p:txBody>
      </p:sp>
      <p:sp>
        <p:nvSpPr>
          <p:cNvPr id="13" name="Shape 10"/>
          <p:cNvSpPr/>
          <p:nvPr/>
        </p:nvSpPr>
        <p:spPr>
          <a:xfrm>
            <a:off x="3734544" y="3419029"/>
            <a:ext cx="14288" cy="392013"/>
          </a:xfrm>
          <a:prstGeom prst="roundRect">
            <a:avLst>
              <a:gd name="adj" fmla="val 137204"/>
            </a:avLst>
          </a:prstGeom>
          <a:solidFill>
            <a:srgbClr val="CFD2D8"/>
          </a:solidFill>
          <a:ln/>
        </p:spPr>
      </p:sp>
      <p:sp>
        <p:nvSpPr>
          <p:cNvPr id="14" name="Shape 11"/>
          <p:cNvSpPr/>
          <p:nvPr/>
        </p:nvSpPr>
        <p:spPr>
          <a:xfrm>
            <a:off x="3692686" y="3370027"/>
            <a:ext cx="98003" cy="98003"/>
          </a:xfrm>
          <a:prstGeom prst="ellipse">
            <a:avLst/>
          </a:prstGeom>
          <a:solidFill>
            <a:srgbClr val="476FD6"/>
          </a:solidFill>
          <a:ln/>
        </p:spPr>
      </p:sp>
      <p:sp>
        <p:nvSpPr>
          <p:cNvPr id="15" name="Shape 12"/>
          <p:cNvSpPr/>
          <p:nvPr/>
        </p:nvSpPr>
        <p:spPr>
          <a:xfrm>
            <a:off x="2156520" y="3811042"/>
            <a:ext cx="3170411" cy="939403"/>
          </a:xfrm>
          <a:prstGeom prst="roundRect">
            <a:avLst>
              <a:gd name="adj" fmla="val 2087"/>
            </a:avLst>
          </a:prstGeom>
          <a:solidFill>
            <a:srgbClr val="E9ECF2"/>
          </a:solidFill>
          <a:ln/>
        </p:spPr>
      </p:sp>
      <p:sp>
        <p:nvSpPr>
          <p:cNvPr id="16" name="Text 13"/>
          <p:cNvSpPr/>
          <p:nvPr/>
        </p:nvSpPr>
        <p:spPr>
          <a:xfrm>
            <a:off x="2882652" y="3941713"/>
            <a:ext cx="1718072" cy="204118"/>
          </a:xfrm>
          <a:prstGeom prst="rect">
            <a:avLst/>
          </a:prstGeom>
          <a:noFill/>
          <a:ln/>
        </p:spPr>
        <p:txBody>
          <a:bodyPr wrap="none" lIns="0" tIns="0" rIns="0" bIns="0" rtlCol="0" anchor="t"/>
          <a:lstStyle/>
          <a:p>
            <a:pPr algn="ctr" indent="0" marL="0">
              <a:lnSpc>
                <a:spcPct val="104000"/>
              </a:lnSpc>
              <a:buNone/>
            </a:pPr>
            <a:r>
              <a:rPr lang="en-US" sz="1250" dirty="0">
                <a:solidFill>
                  <a:srgbClr val="15213F"/>
                </a:solidFill>
                <a:latin typeface="Roboto Slab" pitchFamily="34" charset="0"/>
                <a:ea typeface="Roboto Slab" pitchFamily="34" charset="-122"/>
                <a:cs typeface="Roboto Slab" pitchFamily="34" charset="-120"/>
              </a:rPr>
              <a:t>Design &amp; Development</a:t>
            </a:r>
            <a:endParaRPr lang="en-US" sz="1250" dirty="0"/>
          </a:p>
        </p:txBody>
      </p:sp>
      <p:sp>
        <p:nvSpPr>
          <p:cNvPr id="17" name="Text 14"/>
          <p:cNvSpPr/>
          <p:nvPr/>
        </p:nvSpPr>
        <p:spPr>
          <a:xfrm>
            <a:off x="2287191" y="4218087"/>
            <a:ext cx="2909069" cy="401687"/>
          </a:xfrm>
          <a:prstGeom prst="rect">
            <a:avLst/>
          </a:prstGeom>
          <a:noFill/>
          <a:ln/>
        </p:spPr>
        <p:txBody>
          <a:bodyPr wrap="square" lIns="0" tIns="0" rIns="0" bIns="0" rtlCol="0" anchor="t">
            <a:normAutofit/>
          </a:bodyPr>
          <a:lstStyle/>
          <a:p>
            <a:pPr algn="ctr" indent="0" marL="0">
              <a:lnSpc>
                <a:spcPct val="128000"/>
              </a:lnSpc>
              <a:buNone/>
            </a:pPr>
            <a:r>
              <a:rPr lang="en-US" sz="1000" dirty="0">
                <a:solidFill>
                  <a:srgbClr val="15213F"/>
                </a:solidFill>
                <a:latin typeface="Roboto" pitchFamily="34" charset="0"/>
                <a:ea typeface="Roboto" pitchFamily="34" charset="-122"/>
                <a:cs typeface="Roboto" pitchFamily="34" charset="-120"/>
              </a:rPr>
              <a:t>Building robust and scalable web, mobile, and management platforms.</a:t>
            </a:r>
            <a:endParaRPr lang="en-US" sz="1000" dirty="0"/>
          </a:p>
        </p:txBody>
      </p:sp>
      <p:sp>
        <p:nvSpPr>
          <p:cNvPr id="18" name="Shape 15"/>
          <p:cNvSpPr/>
          <p:nvPr/>
        </p:nvSpPr>
        <p:spPr>
          <a:xfrm>
            <a:off x="5395020" y="3027015"/>
            <a:ext cx="14288" cy="392013"/>
          </a:xfrm>
          <a:prstGeom prst="roundRect">
            <a:avLst>
              <a:gd name="adj" fmla="val 137204"/>
            </a:avLst>
          </a:prstGeom>
          <a:solidFill>
            <a:srgbClr val="CFD2D8"/>
          </a:solidFill>
          <a:ln/>
        </p:spPr>
      </p:sp>
      <p:sp>
        <p:nvSpPr>
          <p:cNvPr id="19" name="Shape 16"/>
          <p:cNvSpPr/>
          <p:nvPr/>
        </p:nvSpPr>
        <p:spPr>
          <a:xfrm>
            <a:off x="5353162" y="3370027"/>
            <a:ext cx="98003" cy="98003"/>
          </a:xfrm>
          <a:prstGeom prst="ellipse">
            <a:avLst/>
          </a:prstGeom>
          <a:solidFill>
            <a:srgbClr val="476FD6"/>
          </a:solidFill>
          <a:ln/>
        </p:spPr>
      </p:sp>
      <p:sp>
        <p:nvSpPr>
          <p:cNvPr id="20" name="Shape 17"/>
          <p:cNvSpPr/>
          <p:nvPr/>
        </p:nvSpPr>
        <p:spPr>
          <a:xfrm>
            <a:off x="3816995" y="2087612"/>
            <a:ext cx="3170411" cy="939403"/>
          </a:xfrm>
          <a:prstGeom prst="roundRect">
            <a:avLst>
              <a:gd name="adj" fmla="val 2087"/>
            </a:avLst>
          </a:prstGeom>
          <a:solidFill>
            <a:srgbClr val="E9ECF2"/>
          </a:solidFill>
          <a:ln/>
        </p:spPr>
      </p:sp>
      <p:sp>
        <p:nvSpPr>
          <p:cNvPr id="21" name="Text 18"/>
          <p:cNvSpPr/>
          <p:nvPr/>
        </p:nvSpPr>
        <p:spPr>
          <a:xfrm>
            <a:off x="4571777" y="2218283"/>
            <a:ext cx="1660773" cy="204118"/>
          </a:xfrm>
          <a:prstGeom prst="rect">
            <a:avLst/>
          </a:prstGeom>
          <a:noFill/>
          <a:ln/>
        </p:spPr>
        <p:txBody>
          <a:bodyPr wrap="none" lIns="0" tIns="0" rIns="0" bIns="0" rtlCol="0" anchor="t"/>
          <a:lstStyle/>
          <a:p>
            <a:pPr algn="ctr" indent="0" marL="0">
              <a:lnSpc>
                <a:spcPct val="104000"/>
              </a:lnSpc>
              <a:buNone/>
            </a:pPr>
            <a:r>
              <a:rPr lang="en-US" sz="1250" dirty="0">
                <a:solidFill>
                  <a:srgbClr val="15213F"/>
                </a:solidFill>
                <a:latin typeface="Roboto Slab" pitchFamily="34" charset="0"/>
                <a:ea typeface="Roboto Slab" pitchFamily="34" charset="-122"/>
                <a:cs typeface="Roboto Slab" pitchFamily="34" charset="-120"/>
              </a:rPr>
              <a:t>Testing &amp; Refinement</a:t>
            </a:r>
            <a:endParaRPr lang="en-US" sz="1250" dirty="0"/>
          </a:p>
        </p:txBody>
      </p:sp>
      <p:sp>
        <p:nvSpPr>
          <p:cNvPr id="22" name="Text 19"/>
          <p:cNvSpPr/>
          <p:nvPr/>
        </p:nvSpPr>
        <p:spPr>
          <a:xfrm>
            <a:off x="3947666" y="2494657"/>
            <a:ext cx="2909069" cy="401687"/>
          </a:xfrm>
          <a:prstGeom prst="rect">
            <a:avLst/>
          </a:prstGeom>
          <a:noFill/>
          <a:ln/>
        </p:spPr>
        <p:txBody>
          <a:bodyPr wrap="square" lIns="0" tIns="0" rIns="0" bIns="0" rtlCol="0" anchor="t">
            <a:normAutofit/>
          </a:bodyPr>
          <a:lstStyle/>
          <a:p>
            <a:pPr algn="ctr" indent="0" marL="0">
              <a:lnSpc>
                <a:spcPct val="128000"/>
              </a:lnSpc>
              <a:buNone/>
            </a:pPr>
            <a:r>
              <a:rPr lang="en-US" sz="1000" dirty="0">
                <a:solidFill>
                  <a:srgbClr val="15213F"/>
                </a:solidFill>
                <a:latin typeface="Roboto" pitchFamily="34" charset="0"/>
                <a:ea typeface="Roboto" pitchFamily="34" charset="-122"/>
                <a:cs typeface="Roboto" pitchFamily="34" charset="-120"/>
              </a:rPr>
              <a:t>Rigorous quality assurance and user feedback integration.</a:t>
            </a:r>
            <a:endParaRPr lang="en-US" sz="1000" dirty="0"/>
          </a:p>
        </p:txBody>
      </p:sp>
      <p:sp>
        <p:nvSpPr>
          <p:cNvPr id="23" name="Shape 20"/>
          <p:cNvSpPr/>
          <p:nvPr/>
        </p:nvSpPr>
        <p:spPr>
          <a:xfrm>
            <a:off x="7055495" y="3419029"/>
            <a:ext cx="14288" cy="392013"/>
          </a:xfrm>
          <a:prstGeom prst="roundRect">
            <a:avLst>
              <a:gd name="adj" fmla="val 137204"/>
            </a:avLst>
          </a:prstGeom>
          <a:solidFill>
            <a:srgbClr val="CFD2D8"/>
          </a:solidFill>
          <a:ln/>
        </p:spPr>
      </p:sp>
      <p:sp>
        <p:nvSpPr>
          <p:cNvPr id="24" name="Shape 21"/>
          <p:cNvSpPr/>
          <p:nvPr/>
        </p:nvSpPr>
        <p:spPr>
          <a:xfrm>
            <a:off x="7013637" y="3370027"/>
            <a:ext cx="98003" cy="98003"/>
          </a:xfrm>
          <a:prstGeom prst="ellipse">
            <a:avLst/>
          </a:prstGeom>
          <a:solidFill>
            <a:srgbClr val="476FD6"/>
          </a:solidFill>
          <a:ln/>
        </p:spPr>
      </p:sp>
      <p:sp>
        <p:nvSpPr>
          <p:cNvPr id="25" name="Shape 22"/>
          <p:cNvSpPr/>
          <p:nvPr/>
        </p:nvSpPr>
        <p:spPr>
          <a:xfrm>
            <a:off x="5477470" y="3811042"/>
            <a:ext cx="3170411" cy="939403"/>
          </a:xfrm>
          <a:prstGeom prst="roundRect">
            <a:avLst>
              <a:gd name="adj" fmla="val 2087"/>
            </a:avLst>
          </a:prstGeom>
          <a:solidFill>
            <a:srgbClr val="E9ECF2"/>
          </a:solidFill>
          <a:ln/>
        </p:spPr>
      </p:sp>
      <p:sp>
        <p:nvSpPr>
          <p:cNvPr id="26" name="Text 23"/>
          <p:cNvSpPr/>
          <p:nvPr/>
        </p:nvSpPr>
        <p:spPr>
          <a:xfrm>
            <a:off x="6245870" y="3941713"/>
            <a:ext cx="1633612" cy="204118"/>
          </a:xfrm>
          <a:prstGeom prst="rect">
            <a:avLst/>
          </a:prstGeom>
          <a:noFill/>
          <a:ln/>
        </p:spPr>
        <p:txBody>
          <a:bodyPr wrap="none" lIns="0" tIns="0" rIns="0" bIns="0" rtlCol="0" anchor="t"/>
          <a:lstStyle/>
          <a:p>
            <a:pPr algn="ctr" indent="0" marL="0">
              <a:lnSpc>
                <a:spcPct val="104000"/>
              </a:lnSpc>
              <a:buNone/>
            </a:pPr>
            <a:r>
              <a:rPr lang="en-US" sz="1250" dirty="0">
                <a:solidFill>
                  <a:srgbClr val="15213F"/>
                </a:solidFill>
                <a:latin typeface="Roboto Slab" pitchFamily="34" charset="0"/>
                <a:ea typeface="Roboto Slab" pitchFamily="34" charset="-122"/>
                <a:cs typeface="Roboto Slab" pitchFamily="34" charset="-120"/>
              </a:rPr>
              <a:t>Launch &amp; Support</a:t>
            </a:r>
            <a:endParaRPr lang="en-US" sz="1250" dirty="0"/>
          </a:p>
        </p:txBody>
      </p:sp>
      <p:sp>
        <p:nvSpPr>
          <p:cNvPr id="27" name="Text 24"/>
          <p:cNvSpPr/>
          <p:nvPr/>
        </p:nvSpPr>
        <p:spPr>
          <a:xfrm>
            <a:off x="5608141" y="4218087"/>
            <a:ext cx="2909069" cy="401687"/>
          </a:xfrm>
          <a:prstGeom prst="rect">
            <a:avLst/>
          </a:prstGeom>
          <a:noFill/>
          <a:ln/>
        </p:spPr>
        <p:txBody>
          <a:bodyPr wrap="square" lIns="0" tIns="0" rIns="0" bIns="0" rtlCol="0" anchor="t">
            <a:normAutofit/>
          </a:bodyPr>
          <a:lstStyle/>
          <a:p>
            <a:pPr algn="ctr" indent="0" marL="0">
              <a:lnSpc>
                <a:spcPct val="128000"/>
              </a:lnSpc>
              <a:buNone/>
            </a:pPr>
            <a:r>
              <a:rPr lang="en-US" sz="1000" dirty="0">
                <a:solidFill>
                  <a:srgbClr val="15213F"/>
                </a:solidFill>
                <a:latin typeface="Roboto" pitchFamily="34" charset="0"/>
                <a:ea typeface="Roboto" pitchFamily="34" charset="-122"/>
                <a:cs typeface="Roboto" pitchFamily="34" charset="-120"/>
              </a:rPr>
              <a:t>Go-live, user training, and continuous technical assistance.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61908" y="389855"/>
            <a:ext cx="885974" cy="885974"/>
          </a:xfrm>
          <a:prstGeom prst="rect">
            <a:avLst/>
          </a:prstGeom>
        </p:spPr>
      </p:pic>
      <p:sp>
        <p:nvSpPr>
          <p:cNvPr id="3" name="Text 0"/>
          <p:cNvSpPr/>
          <p:nvPr/>
        </p:nvSpPr>
        <p:spPr>
          <a:xfrm>
            <a:off x="2792834" y="1438573"/>
            <a:ext cx="3558332" cy="387548"/>
          </a:xfrm>
          <a:prstGeom prst="rect">
            <a:avLst/>
          </a:prstGeom>
          <a:noFill/>
          <a:ln/>
        </p:spPr>
        <p:txBody>
          <a:bodyPr wrap="none" lIns="0" tIns="0" rIns="0" bIns="0" rtlCol="0" anchor="t"/>
          <a:lstStyle/>
          <a:p>
            <a:pPr algn="ctr" indent="0" marL="0">
              <a:lnSpc>
                <a:spcPct val="104000"/>
              </a:lnSpc>
              <a:buNone/>
            </a:pPr>
            <a:r>
              <a:rPr lang="en-US" sz="2400" dirty="0">
                <a:solidFill>
                  <a:srgbClr val="3257B8"/>
                </a:solidFill>
                <a:latin typeface="Roboto Slab" pitchFamily="34" charset="0"/>
                <a:ea typeface="Roboto Slab" pitchFamily="34" charset="-122"/>
                <a:cs typeface="Roboto Slab" pitchFamily="34" charset="-120"/>
              </a:rPr>
              <a:t>Thank You!</a:t>
            </a:r>
            <a:endParaRPr lang="en-US" sz="2400" dirty="0"/>
          </a:p>
        </p:txBody>
      </p:sp>
      <p:sp>
        <p:nvSpPr>
          <p:cNvPr id="4" name="Text 1"/>
          <p:cNvSpPr/>
          <p:nvPr/>
        </p:nvSpPr>
        <p:spPr>
          <a:xfrm>
            <a:off x="496119" y="1988865"/>
            <a:ext cx="8151763" cy="372070"/>
          </a:xfrm>
          <a:prstGeom prst="rect">
            <a:avLst/>
          </a:prstGeom>
          <a:noFill/>
          <a:ln/>
        </p:spPr>
        <p:txBody>
          <a:bodyPr wrap="square" lIns="0" tIns="0" rIns="0" bIns="0" rtlCol="0" anchor="t">
            <a:normAutofit/>
          </a:bodyPr>
          <a:lstStyle/>
          <a:p>
            <a:pPr algn="ctr" indent="0" marL="0">
              <a:lnSpc>
                <a:spcPct val="125000"/>
              </a:lnSpc>
              <a:buNone/>
            </a:pPr>
            <a:r>
              <a:rPr lang="en-US" sz="950" dirty="0">
                <a:solidFill>
                  <a:srgbClr val="15213F"/>
                </a:solidFill>
                <a:latin typeface="Roboto" pitchFamily="34" charset="0"/>
                <a:ea typeface="Roboto" pitchFamily="34" charset="-122"/>
                <a:cs typeface="Roboto" pitchFamily="34" charset="-120"/>
              </a:rPr>
              <a:t>We sincerely appreciate your time and attention today. We are confident that our proposed digital solutions will empower Agrawal Brothers to achieve remarkable growth and operational excellence. We look forward to partnering with you on this transformative journey.</a:t>
            </a:r>
            <a:endParaRPr lang="en-US" sz="950" dirty="0"/>
          </a:p>
        </p:txBody>
      </p:sp>
      <p:sp>
        <p:nvSpPr>
          <p:cNvPr id="5" name="Shape 2"/>
          <p:cNvSpPr/>
          <p:nvPr/>
        </p:nvSpPr>
        <p:spPr>
          <a:xfrm>
            <a:off x="496119" y="2513930"/>
            <a:ext cx="8151763" cy="14288"/>
          </a:xfrm>
          <a:prstGeom prst="roundRect">
            <a:avLst>
              <a:gd name="adj" fmla="val 59998"/>
            </a:avLst>
          </a:prstGeom>
          <a:solidFill>
            <a:srgbClr val="15213F">
              <a:alpha val="50000"/>
            </a:srgbClr>
          </a:solidFill>
          <a:ln/>
        </p:spPr>
      </p:sp>
      <p:sp>
        <p:nvSpPr>
          <p:cNvPr id="6" name="Text 3"/>
          <p:cNvSpPr/>
          <p:nvPr/>
        </p:nvSpPr>
        <p:spPr>
          <a:xfrm>
            <a:off x="3102918" y="2721918"/>
            <a:ext cx="2938090" cy="310083"/>
          </a:xfrm>
          <a:prstGeom prst="rect">
            <a:avLst/>
          </a:prstGeom>
          <a:noFill/>
          <a:ln/>
        </p:spPr>
        <p:txBody>
          <a:bodyPr wrap="none" lIns="0" tIns="0" rIns="0" bIns="0" rtlCol="0" anchor="t"/>
          <a:lstStyle/>
          <a:p>
            <a:pPr algn="ctr" indent="0" marL="0">
              <a:lnSpc>
                <a:spcPct val="104000"/>
              </a:lnSpc>
              <a:buNone/>
            </a:pPr>
            <a:r>
              <a:rPr lang="en-US" sz="1950" dirty="0">
                <a:solidFill>
                  <a:srgbClr val="3257B8"/>
                </a:solidFill>
                <a:latin typeface="Roboto Slab" pitchFamily="34" charset="0"/>
                <a:ea typeface="Roboto Slab" pitchFamily="34" charset="-122"/>
                <a:cs typeface="Roboto Slab" pitchFamily="34" charset="-120"/>
              </a:rPr>
              <a:t>Let's Connect</a:t>
            </a:r>
            <a:endParaRPr lang="en-US" sz="1950" dirty="0"/>
          </a:p>
        </p:txBody>
      </p:sp>
      <p:sp>
        <p:nvSpPr>
          <p:cNvPr id="7" name="Shape 4"/>
          <p:cNvSpPr/>
          <p:nvPr/>
        </p:nvSpPr>
        <p:spPr>
          <a:xfrm>
            <a:off x="496119" y="3194745"/>
            <a:ext cx="4021634" cy="726281"/>
          </a:xfrm>
          <a:prstGeom prst="roundRect">
            <a:avLst>
              <a:gd name="adj" fmla="val 2562"/>
            </a:avLst>
          </a:prstGeom>
          <a:solidFill>
            <a:srgbClr val="FBFCFE"/>
          </a:solidFill>
          <a:ln w="14288">
            <a:solidFill>
              <a:srgbClr val="CFD2D8"/>
            </a:solidFill>
            <a:prstDash val="solid"/>
          </a:ln>
        </p:spPr>
      </p:sp>
      <p:sp>
        <p:nvSpPr>
          <p:cNvPr id="8" name="Text 5"/>
          <p:cNvSpPr/>
          <p:nvPr/>
        </p:nvSpPr>
        <p:spPr>
          <a:xfrm>
            <a:off x="634380" y="3333006"/>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 Phone</a:t>
            </a:r>
            <a:endParaRPr lang="en-US" sz="1200" dirty="0"/>
          </a:p>
        </p:txBody>
      </p:sp>
      <p:sp>
        <p:nvSpPr>
          <p:cNvPr id="9" name="Text 6"/>
          <p:cNvSpPr/>
          <p:nvPr/>
        </p:nvSpPr>
        <p:spPr>
          <a:xfrm>
            <a:off x="634380" y="3596729"/>
            <a:ext cx="3745111" cy="186035"/>
          </a:xfrm>
          <a:prstGeom prst="rect">
            <a:avLst/>
          </a:prstGeom>
          <a:noFill/>
          <a:ln/>
        </p:spPr>
        <p:txBody>
          <a:bodyPr wrap="none" lIns="0" tIns="0" rIns="0" bIns="0" rtlCol="0" anchor="t"/>
          <a:lstStyle/>
          <a:p>
            <a:pPr algn="l" indent="0" marL="0">
              <a:lnSpc>
                <a:spcPct val="125000"/>
              </a:lnSpc>
              <a:buNone/>
            </a:pPr>
            <a:r>
              <a:rPr lang="en-US" sz="950" dirty="0">
                <a:solidFill>
                  <a:srgbClr val="15213F"/>
                </a:solidFill>
                <a:latin typeface="Roboto" pitchFamily="34" charset="0"/>
                <a:ea typeface="Roboto" pitchFamily="34" charset="-122"/>
                <a:cs typeface="Roboto" pitchFamily="34" charset="-120"/>
              </a:rPr>
              <a:t>+91-XXXXXXXXXX</a:t>
            </a:r>
            <a:endParaRPr lang="en-US" sz="950" dirty="0"/>
          </a:p>
        </p:txBody>
      </p:sp>
      <p:sp>
        <p:nvSpPr>
          <p:cNvPr id="10" name="Shape 7"/>
          <p:cNvSpPr/>
          <p:nvPr/>
        </p:nvSpPr>
        <p:spPr>
          <a:xfrm>
            <a:off x="4626248" y="3194745"/>
            <a:ext cx="4021634" cy="726281"/>
          </a:xfrm>
          <a:prstGeom prst="roundRect">
            <a:avLst>
              <a:gd name="adj" fmla="val 2562"/>
            </a:avLst>
          </a:prstGeom>
          <a:solidFill>
            <a:srgbClr val="FBFCFE"/>
          </a:solidFill>
          <a:ln w="14288">
            <a:solidFill>
              <a:srgbClr val="CFD2D8"/>
            </a:solidFill>
            <a:prstDash val="solid"/>
          </a:ln>
        </p:spPr>
      </p:sp>
      <p:sp>
        <p:nvSpPr>
          <p:cNvPr id="11" name="Text 8"/>
          <p:cNvSpPr/>
          <p:nvPr/>
        </p:nvSpPr>
        <p:spPr>
          <a:xfrm>
            <a:off x="4764509" y="3333006"/>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 Email</a:t>
            </a:r>
            <a:endParaRPr lang="en-US" sz="1200" dirty="0"/>
          </a:p>
        </p:txBody>
      </p:sp>
      <p:sp>
        <p:nvSpPr>
          <p:cNvPr id="12" name="Text 9"/>
          <p:cNvSpPr/>
          <p:nvPr/>
        </p:nvSpPr>
        <p:spPr>
          <a:xfrm>
            <a:off x="4764509" y="3596729"/>
            <a:ext cx="3745111" cy="186035"/>
          </a:xfrm>
          <a:prstGeom prst="rect">
            <a:avLst/>
          </a:prstGeom>
          <a:noFill/>
          <a:ln/>
        </p:spPr>
        <p:txBody>
          <a:bodyPr wrap="none" lIns="0" tIns="0" rIns="0" bIns="0" rtlCol="0" anchor="t"/>
          <a:lstStyle/>
          <a:p>
            <a:pPr algn="l" indent="0" marL="0">
              <a:lnSpc>
                <a:spcPct val="125000"/>
              </a:lnSpc>
              <a:buNone/>
            </a:pPr>
            <a:r>
              <a:rPr lang="en-US" sz="950" dirty="0">
                <a:solidFill>
                  <a:srgbClr val="15213F"/>
                </a:solidFill>
                <a:latin typeface="Roboto" pitchFamily="34" charset="0"/>
                <a:ea typeface="Roboto" pitchFamily="34" charset="-122"/>
                <a:cs typeface="Roboto" pitchFamily="34" charset="-120"/>
              </a:rPr>
              <a:t>info@companyname.com</a:t>
            </a:r>
            <a:endParaRPr lang="en-US" sz="950" dirty="0"/>
          </a:p>
        </p:txBody>
      </p:sp>
      <p:sp>
        <p:nvSpPr>
          <p:cNvPr id="13" name="Shape 10"/>
          <p:cNvSpPr/>
          <p:nvPr/>
        </p:nvSpPr>
        <p:spPr>
          <a:xfrm>
            <a:off x="496119" y="4029521"/>
            <a:ext cx="4021634" cy="726281"/>
          </a:xfrm>
          <a:prstGeom prst="roundRect">
            <a:avLst>
              <a:gd name="adj" fmla="val 2562"/>
            </a:avLst>
          </a:prstGeom>
          <a:solidFill>
            <a:srgbClr val="FBFCFE"/>
          </a:solidFill>
          <a:ln w="14288">
            <a:solidFill>
              <a:srgbClr val="CFD2D8"/>
            </a:solidFill>
            <a:prstDash val="solid"/>
          </a:ln>
        </p:spPr>
      </p:sp>
      <p:sp>
        <p:nvSpPr>
          <p:cNvPr id="14" name="Text 11"/>
          <p:cNvSpPr/>
          <p:nvPr/>
        </p:nvSpPr>
        <p:spPr>
          <a:xfrm>
            <a:off x="634380" y="4167783"/>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 Website</a:t>
            </a:r>
            <a:endParaRPr lang="en-US" sz="1200" dirty="0"/>
          </a:p>
        </p:txBody>
      </p:sp>
      <p:sp>
        <p:nvSpPr>
          <p:cNvPr id="15" name="Text 12"/>
          <p:cNvSpPr/>
          <p:nvPr/>
        </p:nvSpPr>
        <p:spPr>
          <a:xfrm>
            <a:off x="634380" y="4431506"/>
            <a:ext cx="3745111" cy="186035"/>
          </a:xfrm>
          <a:prstGeom prst="rect">
            <a:avLst/>
          </a:prstGeom>
          <a:noFill/>
          <a:ln/>
        </p:spPr>
        <p:txBody>
          <a:bodyPr wrap="none" lIns="0" tIns="0" rIns="0" bIns="0" rtlCol="0" anchor="t"/>
          <a:lstStyle/>
          <a:p>
            <a:pPr algn="l" indent="0" marL="0">
              <a:lnSpc>
                <a:spcPct val="125000"/>
              </a:lnSpc>
              <a:buNone/>
            </a:pPr>
            <a:r>
              <a:rPr lang="en-US" sz="950" dirty="0">
                <a:solidFill>
                  <a:srgbClr val="15213F"/>
                </a:solidFill>
                <a:latin typeface="Roboto" pitchFamily="34" charset="0"/>
                <a:ea typeface="Roboto" pitchFamily="34" charset="-122"/>
                <a:cs typeface="Roboto" pitchFamily="34" charset="-120"/>
              </a:rPr>
              <a:t>www.companyname.com</a:t>
            </a:r>
            <a:endParaRPr lang="en-US" sz="950" dirty="0"/>
          </a:p>
        </p:txBody>
      </p:sp>
      <p:sp>
        <p:nvSpPr>
          <p:cNvPr id="16" name="Shape 13"/>
          <p:cNvSpPr/>
          <p:nvPr/>
        </p:nvSpPr>
        <p:spPr>
          <a:xfrm>
            <a:off x="4626248" y="4029521"/>
            <a:ext cx="4021634" cy="726281"/>
          </a:xfrm>
          <a:prstGeom prst="roundRect">
            <a:avLst>
              <a:gd name="adj" fmla="val 2562"/>
            </a:avLst>
          </a:prstGeom>
          <a:solidFill>
            <a:srgbClr val="FBFCFE"/>
          </a:solidFill>
          <a:ln w="14288">
            <a:solidFill>
              <a:srgbClr val="CFD2D8"/>
            </a:solidFill>
            <a:prstDash val="solid"/>
          </a:ln>
        </p:spPr>
      </p:sp>
      <p:sp>
        <p:nvSpPr>
          <p:cNvPr id="17" name="Text 14"/>
          <p:cNvSpPr/>
          <p:nvPr/>
        </p:nvSpPr>
        <p:spPr>
          <a:xfrm>
            <a:off x="4764509" y="4167783"/>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Roboto Slab" pitchFamily="34" charset="0"/>
                <a:ea typeface="Roboto Slab" pitchFamily="34" charset="-122"/>
                <a:cs typeface="Roboto Slab" pitchFamily="34" charset="-120"/>
              </a:rPr>
              <a:t>📍</a:t>
            </a:r>
            <a:pPr algn="l" indent="0" marL="0">
              <a:lnSpc>
                <a:spcPct val="104000"/>
              </a:lnSpc>
              <a:buNone/>
            </a:pPr>
            <a:r>
              <a:rPr lang="en-US" sz="1200" dirty="0">
                <a:solidFill>
                  <a:srgbClr val="15213F"/>
                </a:solidFill>
                <a:latin typeface="Roboto Slab" pitchFamily="34" charset="0"/>
                <a:ea typeface="Roboto Slab" pitchFamily="34" charset="-122"/>
                <a:cs typeface="Roboto Slab" pitchFamily="34" charset="-120"/>
              </a:rPr>
              <a:t> Address</a:t>
            </a:r>
            <a:endParaRPr lang="en-US" sz="1200" dirty="0"/>
          </a:p>
        </p:txBody>
      </p:sp>
      <p:sp>
        <p:nvSpPr>
          <p:cNvPr id="18" name="Text 15"/>
          <p:cNvSpPr/>
          <p:nvPr/>
        </p:nvSpPr>
        <p:spPr>
          <a:xfrm>
            <a:off x="4764509" y="4431506"/>
            <a:ext cx="3745111" cy="186035"/>
          </a:xfrm>
          <a:prstGeom prst="rect">
            <a:avLst/>
          </a:prstGeom>
          <a:noFill/>
          <a:ln/>
        </p:spPr>
        <p:txBody>
          <a:bodyPr wrap="none" lIns="0" tIns="0" rIns="0" bIns="0" rtlCol="0" anchor="t"/>
          <a:lstStyle/>
          <a:p>
            <a:pPr algn="l" indent="0" marL="0">
              <a:lnSpc>
                <a:spcPct val="125000"/>
              </a:lnSpc>
              <a:buNone/>
            </a:pPr>
            <a:r>
              <a:rPr lang="en-US" sz="950" dirty="0">
                <a:solidFill>
                  <a:srgbClr val="15213F"/>
                </a:solidFill>
                <a:latin typeface="Roboto" pitchFamily="34" charset="0"/>
                <a:ea typeface="Roboto" pitchFamily="34" charset="-122"/>
                <a:cs typeface="Roboto" pitchFamily="34" charset="-120"/>
              </a:rPr>
              <a:t>Your Office Address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2026-07-06T07:58:17Z</dcterms:created>
  <dcterms:modified xsi:type="dcterms:W3CDTF">2026-07-06T07:58:17Z</dcterms:modified>
</cp:coreProperties>
</file>